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5a9dfb44dba4a86" /><Relationship Type="http://schemas.openxmlformats.org/officeDocument/2006/relationships/extended-properties" Target="/docProps/app.xml" Id="Rb1da847e93084b9d" /><Relationship Type="http://schemas.openxmlformats.org/officeDocument/2006/relationships/officeDocument" Target="/ppt/presentation.xml" Id="Rf2b1b5aa934d405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27bc96cb4dc4d01"/>
  </p:sldMasterIdLst>
  <p:sldIdLst>
    <p:sldId xmlns:r="http://schemas.openxmlformats.org/officeDocument/2006/relationships" id="256" r:id="Rdb304cafb0794e80"/>
    <p:sldId xmlns:r="http://schemas.openxmlformats.org/officeDocument/2006/relationships" id="257" r:id="Rb421e990868e48a3"/>
    <p:sldId xmlns:r="http://schemas.openxmlformats.org/officeDocument/2006/relationships" id="258" r:id="R822f09ae74544601"/>
    <p:sldId xmlns:r="http://schemas.openxmlformats.org/officeDocument/2006/relationships" id="259" r:id="Rfd0ead8370fd4898"/>
    <p:sldId xmlns:r="http://schemas.openxmlformats.org/officeDocument/2006/relationships" id="260" r:id="R8895d3132ece4829"/>
    <p:sldId xmlns:r="http://schemas.openxmlformats.org/officeDocument/2006/relationships" id="261" r:id="R8b0c2260e1724b33"/>
    <p:sldId xmlns:r="http://schemas.openxmlformats.org/officeDocument/2006/relationships" id="262" r:id="Rb19ca031b7d7484f"/>
    <p:sldId xmlns:r="http://schemas.openxmlformats.org/officeDocument/2006/relationships" id="263" r:id="R5b674a241b384084"/>
  </p:sldIdLst>
  <p:sldSz cx="12192000" cy="6858000"/>
  <p:notesSz cx="6858000" cy="9144000"/>
  <p:defaultTextStyle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16f4e1c696c4bed" /><Relationship Type="http://schemas.openxmlformats.org/officeDocument/2006/relationships/slideMaster" Target="/ppt/slideMasters/slideMaster1.xml" Id="R127bc96cb4dc4d01" /><Relationship Type="http://schemas.openxmlformats.org/officeDocument/2006/relationships/presProps" Target="/ppt/presProps.xml" Id="R35d744c1a89d4a1f" /><Relationship Type="http://schemas.openxmlformats.org/officeDocument/2006/relationships/viewProps" Target="/ppt/viewProps.xml" Id="R557190d4e12044ba" /><Relationship Type="http://schemas.openxmlformats.org/officeDocument/2006/relationships/tableStyles" Target="/ppt/tableStyles.xml" Id="R28e90b401f7a4c81" /><Relationship Type="http://schemas.openxmlformats.org/officeDocument/2006/relationships/slide" Target="/ppt/slides/slide1.xml" Id="Rdb304cafb0794e80" /><Relationship Type="http://schemas.openxmlformats.org/officeDocument/2006/relationships/slide" Target="/ppt/slides/slide2.xml" Id="Rb421e990868e48a3" /><Relationship Type="http://schemas.openxmlformats.org/officeDocument/2006/relationships/slide" Target="/ppt/slides/slide3.xml" Id="R822f09ae74544601" /><Relationship Type="http://schemas.openxmlformats.org/officeDocument/2006/relationships/slide" Target="/ppt/slides/slide4.xml" Id="Rfd0ead8370fd4898" /><Relationship Type="http://schemas.openxmlformats.org/officeDocument/2006/relationships/slide" Target="/ppt/slides/slide5.xml" Id="R8895d3132ece4829" /><Relationship Type="http://schemas.openxmlformats.org/officeDocument/2006/relationships/slide" Target="/ppt/slides/slide6.xml" Id="R8b0c2260e1724b33" /><Relationship Type="http://schemas.openxmlformats.org/officeDocument/2006/relationships/slide" Target="/ppt/slides/slide7.xml" Id="Rb19ca031b7d7484f" /><Relationship Type="http://schemas.openxmlformats.org/officeDocument/2006/relationships/slide" Target="/ppt/slides/slide8.xml" Id="R5b674a241b384084" /></Relationships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egoe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9dac66b5a974e94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c4a006ec6b14a57" /><Relationship Type="http://schemas.openxmlformats.org/officeDocument/2006/relationships/slideLayout" Target="/ppt/slideLayouts/slideLayout1.xml" Id="Rad02b849a9fb46d6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d02b849a9fb46d6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11ade7737844d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9b8ecb493a459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e3f13614bb4fe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3fcb0462bf43d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76f4bf58cd41b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3888f2e12b43a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a5a6fa554e483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73e6b82324469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54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FFF2D22-604B-4143-A538-E5FA46E11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28775"/>
            <a:ext cx="10591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227"/>
          </a:solidFill>
          <a:ln xmlns:a="http://schemas.openxmlformats.org/drawingml/2006/main" w="0">
            <a:noFill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E085CA3-016A-4785-94A9-ABECC552F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981075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 i="0">
                <a:solidFill>
                  <a:srgbClr val="C9A227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1425" b="1" i="0">
                <a:solidFill>
                  <a:srgbClr val="C9A227"/>
                </a:solidFill>
                <a:latin typeface="Segoe UI"/>
                <a:ea typeface="Segoe UI"/>
                <a:cs typeface="Segoe UI"/>
              </a:defRPr>
            </a:pPr>
            <a:r>
              <a:rPr sz="1425" b="1" i="0" spc="300">
                <a:solidFill>
                  <a:srgbClr val="C9A227"/>
                </a:solidFill>
                <a:latin typeface="Segoe UI"/>
                <a:ea typeface="Segoe UI"/>
                <a:cs typeface="Segoe UI"/>
              </a:rPr>
              <a:t>CPSC 315  /  FINAL PROJECT</a:t>
            </a:r>
            <a:endParaRPr sz="13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9273397-4634-4F58-BDA0-192C1C9B9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85975"/>
            <a:ext cx="10668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400" b="1" i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5400" b="1" i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5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Smart Library</a:t>
            </a:r>
            <a:endParaRPr sz="4000"/>
          </a:p>
          <a:p xmlns:a="http://schemas.openxmlformats.org/drawingml/2006/main">
            <a:pPr marL="0" indent="0" algn="l">
              <a:lnSpc>
                <a:spcPct val="107000"/>
              </a:lnSpc>
              <a:buNone/>
              <a:defRPr sz="5400" b="1" i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5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Management System</a:t>
            </a:r>
            <a:endParaRPr sz="40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12D15B51-FEB6-4963-8C4A-F3363BB54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10096500" cy="647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 i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2025" b="0" i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2025" b="0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Nine modules, from project plan to working system</a:t>
            </a:r>
            <a:endParaRPr sz="19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580C6F96-1BCF-426E-B862-FFF430E7F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00700"/>
            <a:ext cx="10001250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1" i="0">
                <a:solidFill>
                  <a:srgbClr val="C9A227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1575" b="1" i="0">
                <a:solidFill>
                  <a:srgbClr val="C9A227"/>
                </a:solidFill>
                <a:latin typeface="Segoe UI"/>
                <a:ea typeface="Segoe UI"/>
                <a:cs typeface="Segoe UI"/>
              </a:defRPr>
            </a:pPr>
            <a:r>
              <a:rPr sz="1575" b="1" i="0">
                <a:solidFill>
                  <a:srgbClr val="C9A227"/>
                </a:solidFill>
                <a:latin typeface="Segoe UI"/>
                <a:ea typeface="Segoe UI"/>
                <a:cs typeface="Segoe UI"/>
              </a:rPr>
              <a:t>MICHAEL PELITERA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45655407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D093822-B958-43F8-969E-A9E3F4071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3875"/>
            <a:ext cx="11087100" cy="628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3450" b="1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pPr>
            <a:r>
              <a:rPr sz="3450" b="1" i="0">
                <a:solidFill>
                  <a:srgbClr val="10254A"/>
                </a:solidFill>
                <a:latin typeface="Segoe UI"/>
                <a:ea typeface="Segoe UI"/>
                <a:cs typeface="Segoe UI"/>
              </a:rPr>
              <a:t>One catalog. Three perspectives.</a:t>
            </a:r>
            <a:endParaRPr sz="3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E1B8E46-0FA1-432D-B459-A94BFF452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81100"/>
            <a:ext cx="1104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 i="0">
                <a:solidFill>
                  <a:srgbClr val="6B7280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1575" b="0" i="0">
                <a:solidFill>
                  <a:srgbClr val="6B7280"/>
                </a:solidFill>
                <a:latin typeface="Segoe UI"/>
                <a:ea typeface="Segoe UI"/>
                <a:cs typeface="Segoe UI"/>
              </a:defRPr>
            </a:pPr>
            <a:r>
              <a:rPr sz="1575" b="0" i="0">
                <a:solidFill>
                  <a:srgbClr val="6B7280"/>
                </a:solidFill>
                <a:latin typeface="Segoe UI"/>
                <a:ea typeface="Segoe UI"/>
                <a:cs typeface="Segoe UI"/>
              </a:rPr>
              <a:t>The interface follows the work each person needs to do.</a:t>
            </a:r>
            <a:endParaRPr sz="14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BEC0FA3-C0E8-40A6-94A8-49715E71F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28800"/>
            <a:ext cx="11049000" cy="9525"/>
          </a:xfrm>
          <a:prstGeom xmlns:a="http://schemas.openxmlformats.org/drawingml/2006/main" prst="rect">
            <a:avLst>
              <a:gd name="adj" fmla="val 3521"/>
            </a:avLst>
          </a:prstGeom>
          <a:solidFill xmlns:a="http://schemas.openxmlformats.org/drawingml/2006/main">
            <a:srgbClr val="DDE2EA"/>
          </a:solidFill>
          <a:ln xmlns:a="http://schemas.openxmlformats.org/drawingml/2006/main" w="0">
            <a:noFill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105AC2E7-F298-4831-840E-F47D64B41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71675"/>
            <a:ext cx="2543175" cy="4286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2175" b="1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pPr>
            <a:r>
              <a:rPr sz="2175" b="1" i="0">
                <a:solidFill>
                  <a:srgbClr val="10254A"/>
                </a:solidFill>
                <a:latin typeface="Segoe UI"/>
                <a:ea typeface="Segoe UI"/>
                <a:cs typeface="Segoe UI"/>
              </a:rPr>
              <a:t>Patron</a:t>
            </a:r>
            <a:endParaRPr sz="16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BE52AA52-47CC-41BD-ACCF-24CB5B0D2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1971675"/>
            <a:ext cx="8162925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2025" b="0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pPr>
            <a:r>
              <a:rPr sz="2025" b="0" i="0">
                <a:solidFill>
                  <a:srgbClr val="10254A"/>
                </a:solidFill>
                <a:latin typeface="Segoe UI"/>
                <a:ea typeface="Segoe UI"/>
                <a:cs typeface="Segoe UI"/>
              </a:rPr>
              <a:t>Find a book. Borrow it. Know when it is due.</a:t>
            </a:r>
            <a:endParaRPr sz="15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B0140320-EE7C-49AF-AD88-EA3D07292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2457450"/>
            <a:ext cx="8096250" cy="4476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 i="0">
                <a:solidFill>
                  <a:srgbClr val="6B7280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1575" b="0" i="0">
                <a:solidFill>
                  <a:srgbClr val="6B7280"/>
                </a:solidFill>
                <a:latin typeface="Segoe UI"/>
                <a:ea typeface="Segoe UI"/>
                <a:cs typeface="Segoe UI"/>
              </a:defRPr>
            </a:pPr>
            <a:r>
              <a:rPr sz="1575" b="0" i="0">
                <a:solidFill>
                  <a:srgbClr val="6B7280"/>
                </a:solidFill>
                <a:latin typeface="Segoe UI"/>
                <a:ea typeface="Segoe UI"/>
                <a:cs typeface="Segoe UI"/>
              </a:rPr>
              <a:t>Search by part of a title or author; no ISBN needed.</a:t>
            </a:r>
            <a:endParaRPr sz="130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E2EB4C9F-3E8A-404A-82D4-12FA012D3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76575"/>
            <a:ext cx="11049000" cy="9525"/>
          </a:xfrm>
          <a:prstGeom xmlns:a="http://schemas.openxmlformats.org/drawingml/2006/main" prst="rect">
            <a:avLst>
              <a:gd name="adj" fmla="val 3521"/>
            </a:avLst>
          </a:prstGeom>
          <a:solidFill xmlns:a="http://schemas.openxmlformats.org/drawingml/2006/main">
            <a:srgbClr val="DDE2EA"/>
          </a:solidFill>
          <a:ln xmlns:a="http://schemas.openxmlformats.org/drawingml/2006/main" w="0">
            <a:noFill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4FB8247B-9660-464B-A18A-36A8B19DF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19450"/>
            <a:ext cx="2543175" cy="4286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2175" b="1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pPr>
            <a:r>
              <a:rPr sz="2175" b="1" i="0">
                <a:solidFill>
                  <a:srgbClr val="10254A"/>
                </a:solidFill>
                <a:latin typeface="Segoe UI"/>
                <a:ea typeface="Segoe UI"/>
                <a:cs typeface="Segoe UI"/>
              </a:rPr>
              <a:t>Librarian</a:t>
            </a:r>
            <a:endParaRPr sz="16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B66C7143-376D-45EB-9834-82C2C0B14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3219450"/>
            <a:ext cx="8162925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2025" b="0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pPr>
            <a:r>
              <a:rPr sz="2025" b="0" i="0">
                <a:solidFill>
                  <a:srgbClr val="10254A"/>
                </a:solidFill>
                <a:latin typeface="Segoe UI"/>
                <a:ea typeface="Segoe UI"/>
                <a:cs typeface="Segoe UI"/>
              </a:rPr>
              <a:t>Check items in and work the overdue list.</a:t>
            </a:r>
            <a:endParaRPr sz="15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7AFA6B2A-D0CD-4653-BEF4-B6C1859BD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3705225"/>
            <a:ext cx="8096250" cy="4476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 i="0">
                <a:solidFill>
                  <a:srgbClr val="6B7280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1575" b="0" i="0">
                <a:solidFill>
                  <a:srgbClr val="6B7280"/>
                </a:solidFill>
                <a:latin typeface="Segoe UI"/>
                <a:ea typeface="Segoe UI"/>
                <a:cs typeface="Segoe UI"/>
              </a:defRPr>
            </a:pPr>
            <a:r>
              <a:rPr sz="1575" b="0" i="0">
                <a:solidFill>
                  <a:srgbClr val="6B7280"/>
                </a:solidFill>
                <a:latin typeface="Segoe UI"/>
                <a:ea typeface="Segoe UI"/>
                <a:cs typeface="Segoe UI"/>
              </a:rPr>
              <a:t>See which items are late, by how long, and who has them.</a:t>
            </a:r>
            <a:endParaRPr sz="130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165438DE-F2C1-470D-8A10-617DB8D35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24350"/>
            <a:ext cx="11049000" cy="9525"/>
          </a:xfrm>
          <a:prstGeom xmlns:a="http://schemas.openxmlformats.org/drawingml/2006/main" prst="rect">
            <a:avLst>
              <a:gd name="adj" fmla="val 3521"/>
            </a:avLst>
          </a:prstGeom>
          <a:solidFill xmlns:a="http://schemas.openxmlformats.org/drawingml/2006/main">
            <a:srgbClr val="DDE2EA"/>
          </a:solidFill>
          <a:ln xmlns:a="http://schemas.openxmlformats.org/drawingml/2006/main" w="0">
            <a:noFill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E0A50800-1484-4C2C-962B-15FEF2389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67225"/>
            <a:ext cx="2543175" cy="4286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2175" b="1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pPr>
            <a:r>
              <a:rPr sz="2175" b="1" i="0">
                <a:solidFill>
                  <a:srgbClr val="10254A"/>
                </a:solidFill>
                <a:latin typeface="Segoe UI"/>
                <a:ea typeface="Segoe UI"/>
                <a:cs typeface="Segoe UI"/>
              </a:rPr>
              <a:t>Administrator</a:t>
            </a:r>
            <a:endParaRPr sz="16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5414EF16-CBF5-4DF6-987B-2B8CDD2AC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4467225"/>
            <a:ext cx="8162925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2025" b="0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pPr>
            <a:r>
              <a:rPr sz="2025" b="0" i="0">
                <a:solidFill>
                  <a:srgbClr val="10254A"/>
                </a:solidFill>
                <a:latin typeface="Segoe UI"/>
                <a:ea typeface="Segoe UI"/>
                <a:cs typeface="Segoe UI"/>
              </a:rPr>
              <a:t>See the collection as a whole.</a:t>
            </a:r>
            <a:endParaRPr sz="15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A9F6143B-19D4-4FBA-87F6-89DCD9C37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4953000"/>
            <a:ext cx="8096250" cy="4476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 i="0">
                <a:solidFill>
                  <a:srgbClr val="6B7280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1575" b="0" i="0">
                <a:solidFill>
                  <a:srgbClr val="6B7280"/>
                </a:solidFill>
                <a:latin typeface="Segoe UI"/>
                <a:ea typeface="Segoe UI"/>
                <a:cs typeface="Segoe UI"/>
              </a:defRPr>
            </a:pPr>
            <a:r>
              <a:rPr sz="1575" b="0" i="0">
                <a:solidFill>
                  <a:srgbClr val="6B7280"/>
                </a:solidFill>
                <a:latin typeface="Segoe UI"/>
                <a:ea typeface="Segoe UI"/>
                <a:cs typeface="Segoe UI"/>
              </a:rPr>
              <a:t>Counts titles, copies, and loans. Shares the librarian’s screens in this build.</a:t>
            </a:r>
            <a:endParaRPr sz="13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1A859956-151A-4BA8-BCC3-4355F2A74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76950"/>
            <a:ext cx="1066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 i="0">
                <a:solidFill>
                  <a:srgbClr val="6B7280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1350" b="0" i="0">
                <a:solidFill>
                  <a:srgbClr val="6B7280"/>
                </a:solidFill>
                <a:latin typeface="Segoe UI"/>
                <a:ea typeface="Segoe UI"/>
                <a:cs typeface="Segoe UI"/>
              </a:defRPr>
            </a:pPr>
            <a:r>
              <a:rPr sz="1350" b="0" i="0">
                <a:solidFill>
                  <a:srgbClr val="6B7280"/>
                </a:solidFill>
                <a:latin typeface="Segoe UI"/>
                <a:ea typeface="Segoe UI"/>
                <a:cs typeface="Segoe UI"/>
              </a:rPr>
              <a:t>Users should be able to complete the task without knowing the data structure behind it.</a:t>
            </a:r>
            <a:endParaRPr sz="1350"/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6C862D-AA8E-446A-BC9B-E95FADCDC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72250"/>
            <a:ext cx="9906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75" b="0">
                <a:solidFill>
                  <a:srgbClr val="6B7280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r">
              <a:lnSpc>
                <a:spcPct val="107000"/>
              </a:lnSpc>
              <a:buNone/>
              <a:defRPr sz="975" b="0">
                <a:solidFill>
                  <a:srgbClr val="6B7280"/>
                </a:solidFill>
                <a:latin typeface="Segoe UI"/>
                <a:ea typeface="Segoe UI"/>
                <a:cs typeface="Segoe UI"/>
              </a:defRPr>
            </a:pPr>
            <a:r>
              <a:rPr sz="975" b="0">
                <a:solidFill>
                  <a:srgbClr val="6B7280"/>
                </a:solidFill>
                <a:latin typeface="Segoe UI"/>
                <a:ea typeface="Segoe UI"/>
                <a:cs typeface="Segoe UI"/>
              </a:rPr>
              <a:t>02 / 08</a:t>
            </a:r>
          </a:p>
        </p:txBody>
      </p:sp>
    </p:spTree>
    <p:extLst>
      <p:ext uri="{BB962C8B-B14F-4D97-AF65-F5344CB8AC3E}">
        <p14:creationId xmlns:p14="http://schemas.microsoft.com/office/powerpoint/2010/main" val="125360216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C8CA328-4B88-4C76-9CAA-DDB0FAB06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3875"/>
            <a:ext cx="11087100" cy="628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3450" b="1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pPr>
            <a:r>
              <a:rPr sz="3450" b="1" i="0">
                <a:solidFill>
                  <a:srgbClr val="10254A"/>
                </a:solidFill>
                <a:latin typeface="Segoe UI"/>
                <a:ea typeface="Segoe UI"/>
                <a:cs typeface="Segoe UI"/>
              </a:rPr>
              <a:t>From interface to records</a:t>
            </a:r>
            <a:endParaRPr sz="3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E2D59EA-DB78-4C98-A063-02CB6E127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81100"/>
            <a:ext cx="1104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 i="0">
                <a:solidFill>
                  <a:srgbClr val="6B7280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1575" b="0" i="0">
                <a:solidFill>
                  <a:srgbClr val="6B7280"/>
                </a:solidFill>
                <a:latin typeface="Segoe UI"/>
                <a:ea typeface="Segoe UI"/>
                <a:cs typeface="Segoe UI"/>
              </a:defRPr>
            </a:pPr>
            <a:r>
              <a:rPr sz="1575" b="0" i="0">
                <a:solidFill>
                  <a:srgbClr val="6B7280"/>
                </a:solidFill>
                <a:latin typeface="Segoe UI"/>
                <a:ea typeface="Segoe UI"/>
                <a:cs typeface="Segoe UI"/>
              </a:rPr>
              <a:t>LibrarySystem coordinates operations across the structures.</a:t>
            </a:r>
            <a:endParaRPr sz="14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D83A875-9844-4448-857F-85077655E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09775"/>
            <a:ext cx="1676400" cy="49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1425" b="1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pPr>
            <a:r>
              <a:rPr sz="1425" b="1" i="0">
                <a:solidFill>
                  <a:srgbClr val="10254A"/>
                </a:solidFill>
                <a:latin typeface="Segoe UI"/>
                <a:ea typeface="Segoe UI"/>
                <a:cs typeface="Segoe UI"/>
              </a:rPr>
              <a:t>INTERFACE</a:t>
            </a:r>
            <a:endParaRPr sz="14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8B094552-1299-4F1F-A29A-CA7843E18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809750"/>
            <a:ext cx="4591050" cy="790575"/>
          </a:xfrm>
          <a:prstGeom xmlns:a="http://schemas.openxmlformats.org/drawingml/2006/main" prst="rect">
            <a:avLst>
              <a:gd name="adj" fmla="val 5435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0">
            <a:noFill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CB3DAEAF-AF9B-43C1-B848-15D71C6CB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047875"/>
            <a:ext cx="44386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575" b="0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ctr">
              <a:lnSpc>
                <a:spcPct val="107000"/>
              </a:lnSpc>
              <a:buNone/>
              <a:defRPr sz="1575" b="0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pPr>
            <a:r>
              <a:rPr sz="1575" b="0" i="0">
                <a:solidFill>
                  <a:srgbClr val="10254A"/>
                </a:solidFill>
                <a:latin typeface="Segoe UI"/>
                <a:ea typeface="Segoe UI"/>
                <a:cs typeface="Segoe UI"/>
              </a:rPr>
              <a:t>Console menus</a:t>
            </a:r>
            <a:endParaRPr sz="125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E3C329D3-9B87-480E-A445-41A45800F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809750"/>
            <a:ext cx="4591050" cy="790575"/>
          </a:xfrm>
          <a:prstGeom xmlns:a="http://schemas.openxmlformats.org/drawingml/2006/main" prst="rect">
            <a:avLst>
              <a:gd name="adj" fmla="val 5435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0">
            <a:noFill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C67A205F-93C7-458F-90BC-0CED7F4F3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047875"/>
            <a:ext cx="44386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575" b="0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ctr">
              <a:lnSpc>
                <a:spcPct val="107000"/>
              </a:lnSpc>
              <a:buNone/>
              <a:defRPr sz="1575" b="0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pPr>
            <a:r>
              <a:rPr sz="1575" b="0" i="0">
                <a:solidFill>
                  <a:srgbClr val="10254A"/>
                </a:solidFill>
                <a:latin typeface="Segoe UI"/>
                <a:ea typeface="Segoe UI"/>
                <a:cs typeface="Segoe UI"/>
              </a:rPr>
              <a:t>Input validation</a:t>
            </a:r>
            <a:endParaRPr sz="125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E0866D77-1730-4FD3-902C-B77461C52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1676400" cy="49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1425" b="1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pPr>
            <a:r>
              <a:rPr sz="1425" b="1" i="0">
                <a:solidFill>
                  <a:srgbClr val="10254A"/>
                </a:solidFill>
                <a:latin typeface="Segoe UI"/>
                <a:ea typeface="Segoe UI"/>
                <a:cs typeface="Segoe UI"/>
              </a:rPr>
              <a:t>LOGIC</a:t>
            </a:r>
            <a:endParaRPr sz="14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F32CE4C9-0A64-4D93-80BC-7A065F5CF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790825"/>
            <a:ext cx="2238375" cy="790575"/>
          </a:xfrm>
          <a:prstGeom xmlns:a="http://schemas.openxmlformats.org/drawingml/2006/main" prst="rect">
            <a:avLst>
              <a:gd name="adj" fmla="val 5435"/>
            </a:avLst>
          </a:prstGeom>
          <a:solidFill xmlns:a="http://schemas.openxmlformats.org/drawingml/2006/main">
            <a:srgbClr val="10254A"/>
          </a:solidFill>
          <a:ln xmlns:a="http://schemas.openxmlformats.org/drawingml/2006/main" w="0">
            <a:noFill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635CFDDD-7321-48D0-B7D0-E085DB794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028950"/>
            <a:ext cx="2085975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575" b="1" i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ctr">
              <a:lnSpc>
                <a:spcPct val="107000"/>
              </a:lnSpc>
              <a:buNone/>
              <a:defRPr sz="1575" b="1" i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575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Checkout</a:t>
            </a:r>
            <a:endParaRPr sz="125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7B5483CA-1654-4B61-BD5B-4F4464F58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790825"/>
            <a:ext cx="2238375" cy="790575"/>
          </a:xfrm>
          <a:prstGeom xmlns:a="http://schemas.openxmlformats.org/drawingml/2006/main" prst="rect">
            <a:avLst>
              <a:gd name="adj" fmla="val 5435"/>
            </a:avLst>
          </a:prstGeom>
          <a:solidFill xmlns:a="http://schemas.openxmlformats.org/drawingml/2006/main">
            <a:srgbClr val="10254A"/>
          </a:solidFill>
          <a:ln xmlns:a="http://schemas.openxmlformats.org/drawingml/2006/main" w="0">
            <a:noFill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2CFD9411-6A6B-4BE8-8E46-83AA0950D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3028950"/>
            <a:ext cx="2085975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575" b="1" i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ctr">
              <a:lnSpc>
                <a:spcPct val="107000"/>
              </a:lnSpc>
              <a:buNone/>
              <a:defRPr sz="1575" b="1" i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575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Return</a:t>
            </a:r>
            <a:endParaRPr sz="125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5EC8FBCB-2AA7-411F-9929-5DC782289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790825"/>
            <a:ext cx="2238375" cy="790575"/>
          </a:xfrm>
          <a:prstGeom xmlns:a="http://schemas.openxmlformats.org/drawingml/2006/main" prst="rect">
            <a:avLst>
              <a:gd name="adj" fmla="val 5435"/>
            </a:avLst>
          </a:prstGeom>
          <a:solidFill xmlns:a="http://schemas.openxmlformats.org/drawingml/2006/main">
            <a:srgbClr val="10254A"/>
          </a:solidFill>
          <a:ln xmlns:a="http://schemas.openxmlformats.org/drawingml/2006/main" w="0">
            <a:noFill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98F9B4A9-4F7B-4420-BD1B-9146891CC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028950"/>
            <a:ext cx="2085975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575" b="1" i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ctr">
              <a:lnSpc>
                <a:spcPct val="107000"/>
              </a:lnSpc>
              <a:buNone/>
              <a:defRPr sz="1575" b="1" i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575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Reports</a:t>
            </a:r>
            <a:endParaRPr sz="125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EF996737-AC85-44A5-9716-E873DC1AC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2790825"/>
            <a:ext cx="2238375" cy="790575"/>
          </a:xfrm>
          <a:prstGeom xmlns:a="http://schemas.openxmlformats.org/drawingml/2006/main" prst="rect">
            <a:avLst>
              <a:gd name="adj" fmla="val 5435"/>
            </a:avLst>
          </a:prstGeom>
          <a:solidFill xmlns:a="http://schemas.openxmlformats.org/drawingml/2006/main">
            <a:srgbClr val="10254A"/>
          </a:solidFill>
          <a:ln xmlns:a="http://schemas.openxmlformats.org/drawingml/2006/main" w="0">
            <a:noFill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3579BB8B-D5E4-4E4F-BCA4-FFBA94C77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3028950"/>
            <a:ext cx="2085975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575" b="1" i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ctr">
              <a:lnSpc>
                <a:spcPct val="107000"/>
              </a:lnSpc>
              <a:buNone/>
              <a:defRPr sz="1575" b="1" i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575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Recommendations</a:t>
            </a:r>
            <a:endParaRPr sz="125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D00D67A1-20F5-40CD-AEE9-5E780B8AA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71925"/>
            <a:ext cx="1676400" cy="49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1425" b="1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pPr>
            <a:r>
              <a:rPr sz="1425" b="1" i="0">
                <a:solidFill>
                  <a:srgbClr val="10254A"/>
                </a:solidFill>
                <a:latin typeface="Segoe UI"/>
                <a:ea typeface="Segoe UI"/>
                <a:cs typeface="Segoe UI"/>
              </a:rPr>
              <a:t>STRUCTURES</a:t>
            </a:r>
            <a:endParaRPr sz="140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F1C5B15A-D64D-4EF3-95D8-39C28F1E2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771900"/>
            <a:ext cx="1767840" cy="790575"/>
          </a:xfrm>
          <a:prstGeom xmlns:a="http://schemas.openxmlformats.org/drawingml/2006/main" prst="rect">
            <a:avLst>
              <a:gd name="adj" fmla="val 5435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0">
            <a:noFill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E7CE618F-3C34-4F68-8C60-D5D4EDAED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895725"/>
            <a:ext cx="1615440" cy="6000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425" b="0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ctr">
              <a:lnSpc>
                <a:spcPct val="107000"/>
              </a:lnSpc>
              <a:buNone/>
              <a:defRPr sz="1425" b="0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pPr>
            <a:r>
              <a:rPr sz="1425" b="0" i="0">
                <a:solidFill>
                  <a:srgbClr val="10254A"/>
                </a:solidFill>
                <a:latin typeface="Segoe UI"/>
                <a:ea typeface="Segoe UI"/>
                <a:cs typeface="Segoe UI"/>
              </a:rPr>
              <a:t>Hash table</a:t>
            </a:r>
            <a:endParaRPr sz="1250"/>
          </a:p>
          <a:p xmlns:a="http://schemas.openxmlformats.org/drawingml/2006/main">
            <a:pPr marL="0" indent="0" algn="ctr">
              <a:lnSpc>
                <a:spcPct val="107000"/>
              </a:lnSpc>
              <a:buNone/>
              <a:defRPr sz="1425" b="0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pPr>
            <a:r>
              <a:rPr sz="1425" b="0" i="0">
                <a:solidFill>
                  <a:srgbClr val="10254A"/>
                </a:solidFill>
                <a:latin typeface="Segoe UI"/>
                <a:ea typeface="Segoe UI"/>
                <a:cs typeface="Segoe UI"/>
              </a:rPr>
              <a:t>Books</a:t>
            </a:r>
            <a:endParaRPr sz="125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C52941E1-CDDA-4A06-AE9B-13F86A205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3771900"/>
            <a:ext cx="1767840" cy="790575"/>
          </a:xfrm>
          <a:prstGeom xmlns:a="http://schemas.openxmlformats.org/drawingml/2006/main" prst="rect">
            <a:avLst>
              <a:gd name="adj" fmla="val 5435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0">
            <a:noFill/>
          </a:ln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CA3C9673-3D46-4D03-A764-36897A7B4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2440" y="3895725"/>
            <a:ext cx="1615440" cy="6000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425" b="0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ctr">
              <a:lnSpc>
                <a:spcPct val="107000"/>
              </a:lnSpc>
              <a:buNone/>
              <a:defRPr sz="1425" b="0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pPr>
            <a:r>
              <a:rPr sz="1425" b="0" i="0">
                <a:solidFill>
                  <a:srgbClr val="10254A"/>
                </a:solidFill>
                <a:latin typeface="Segoe UI"/>
                <a:ea typeface="Segoe UI"/>
                <a:cs typeface="Segoe UI"/>
              </a:rPr>
              <a:t>List + index</a:t>
            </a:r>
            <a:endParaRPr sz="1250"/>
          </a:p>
          <a:p xmlns:a="http://schemas.openxmlformats.org/drawingml/2006/main">
            <a:pPr marL="0" indent="0" algn="ctr">
              <a:lnSpc>
                <a:spcPct val="107000"/>
              </a:lnSpc>
              <a:buNone/>
              <a:defRPr sz="1425" b="0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pPr>
            <a:r>
              <a:rPr sz="1425" b="0" i="0">
                <a:solidFill>
                  <a:srgbClr val="10254A"/>
                </a:solidFill>
                <a:latin typeface="Segoe UI"/>
                <a:ea typeface="Segoe UI"/>
                <a:cs typeface="Segoe UI"/>
              </a:rPr>
              <a:t>Accounts</a:t>
            </a:r>
            <a:endParaRPr sz="125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C0640E6A-CE7A-4619-959A-C606E67CD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8380" y="3771900"/>
            <a:ext cx="1767840" cy="790575"/>
          </a:xfrm>
          <a:prstGeom xmlns:a="http://schemas.openxmlformats.org/drawingml/2006/main" prst="rect">
            <a:avLst>
              <a:gd name="adj" fmla="val 5435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0">
            <a:noFill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2607D80F-06FE-4FFD-A8F3-DF2331EF1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4580" y="3895725"/>
            <a:ext cx="1615440" cy="6000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425" b="0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ctr">
              <a:lnSpc>
                <a:spcPct val="107000"/>
              </a:lnSpc>
              <a:buNone/>
              <a:defRPr sz="1425" b="0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pPr>
            <a:r>
              <a:rPr sz="1425" b="0" i="0">
                <a:solidFill>
                  <a:srgbClr val="10254A"/>
                </a:solidFill>
                <a:latin typeface="Segoe UI"/>
                <a:ea typeface="Segoe UI"/>
                <a:cs typeface="Segoe UI"/>
              </a:rPr>
              <a:t>Stack / queue</a:t>
            </a:r>
            <a:endParaRPr sz="1250"/>
          </a:p>
          <a:p xmlns:a="http://schemas.openxmlformats.org/drawingml/2006/main">
            <a:pPr marL="0" indent="0" algn="ctr">
              <a:lnSpc>
                <a:spcPct val="107000"/>
              </a:lnSpc>
              <a:buNone/>
              <a:defRPr sz="1425" b="0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pPr>
            <a:r>
              <a:rPr sz="1425" b="0" i="0">
                <a:solidFill>
                  <a:srgbClr val="10254A"/>
                </a:solidFill>
                <a:latin typeface="Segoe UI"/>
                <a:ea typeface="Segoe UI"/>
                <a:cs typeface="Segoe UI"/>
              </a:rPr>
              <a:t>Activity, holds</a:t>
            </a:r>
            <a:endParaRPr sz="1250"/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F6FB1A12-55EC-4DA3-9D56-FA5636BAA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0520" y="3771900"/>
            <a:ext cx="1767840" cy="790575"/>
          </a:xfrm>
          <a:prstGeom xmlns:a="http://schemas.openxmlformats.org/drawingml/2006/main" prst="rect">
            <a:avLst>
              <a:gd name="adj" fmla="val 5435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0">
            <a:noFill/>
          </a:ln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5CEFD802-2AC6-44EC-A894-B27AB6F62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3895725"/>
            <a:ext cx="1615440" cy="6000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425" b="0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ctr">
              <a:lnSpc>
                <a:spcPct val="107000"/>
              </a:lnSpc>
              <a:buNone/>
              <a:defRPr sz="1425" b="0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pPr>
            <a:r>
              <a:rPr sz="1425" b="0" i="0">
                <a:solidFill>
                  <a:srgbClr val="10254A"/>
                </a:solidFill>
                <a:latin typeface="Segoe UI"/>
                <a:ea typeface="Segoe UI"/>
                <a:cs typeface="Segoe UI"/>
              </a:rPr>
              <a:t>Min-heap</a:t>
            </a:r>
            <a:endParaRPr sz="1250"/>
          </a:p>
          <a:p xmlns:a="http://schemas.openxmlformats.org/drawingml/2006/main">
            <a:pPr marL="0" indent="0" algn="ctr">
              <a:lnSpc>
                <a:spcPct val="107000"/>
              </a:lnSpc>
              <a:buNone/>
              <a:defRPr sz="1425" b="0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pPr>
            <a:r>
              <a:rPr sz="1425" b="0" i="0">
                <a:solidFill>
                  <a:srgbClr val="10254A"/>
                </a:solidFill>
                <a:latin typeface="Segoe UI"/>
                <a:ea typeface="Segoe UI"/>
                <a:cs typeface="Segoe UI"/>
              </a:rPr>
              <a:t>Due dates</a:t>
            </a:r>
            <a:endParaRPr sz="1250"/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D4E7F351-B366-4580-837C-D373FE219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2660" y="3771900"/>
            <a:ext cx="1767840" cy="790575"/>
          </a:xfrm>
          <a:prstGeom xmlns:a="http://schemas.openxmlformats.org/drawingml/2006/main" prst="rect">
            <a:avLst>
              <a:gd name="adj" fmla="val 5435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0">
            <a:noFill/>
          </a:ln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9B177194-F0BB-4BBB-9C7A-3542043EF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8860" y="3895725"/>
            <a:ext cx="1615440" cy="6000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425" b="0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ctr">
              <a:lnSpc>
                <a:spcPct val="107000"/>
              </a:lnSpc>
              <a:buNone/>
              <a:defRPr sz="1425" b="0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pPr>
            <a:r>
              <a:rPr sz="1425" b="0" i="0">
                <a:solidFill>
                  <a:srgbClr val="10254A"/>
                </a:solidFill>
                <a:latin typeface="Segoe UI"/>
                <a:ea typeface="Segoe UI"/>
                <a:cs typeface="Segoe UI"/>
              </a:rPr>
              <a:t>Graph + tree</a:t>
            </a:r>
            <a:endParaRPr sz="1250"/>
          </a:p>
          <a:p xmlns:a="http://schemas.openxmlformats.org/drawingml/2006/main">
            <a:pPr marL="0" indent="0" algn="ctr">
              <a:lnSpc>
                <a:spcPct val="107000"/>
              </a:lnSpc>
              <a:buNone/>
              <a:defRPr sz="1425" b="0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pPr>
            <a:r>
              <a:rPr sz="1425" b="0" i="0">
                <a:solidFill>
                  <a:srgbClr val="10254A"/>
                </a:solidFill>
                <a:latin typeface="Segoe UI"/>
                <a:ea typeface="Segoe UI"/>
                <a:cs typeface="Segoe UI"/>
              </a:rPr>
              <a:t>Suggestions</a:t>
            </a:r>
            <a:endParaRPr sz="125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B6144EFA-0103-44AB-9FA0-3EE6936E4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53000"/>
            <a:ext cx="1676400" cy="49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1425" b="1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pPr>
            <a:r>
              <a:rPr sz="1425" b="1" i="0">
                <a:solidFill>
                  <a:srgbClr val="10254A"/>
                </a:solidFill>
                <a:latin typeface="Segoe UI"/>
                <a:ea typeface="Segoe UI"/>
                <a:cs typeface="Segoe UI"/>
              </a:rPr>
              <a:t>RECORDS</a:t>
            </a:r>
            <a:endParaRPr sz="1400"/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1517D098-7F3C-4F11-8A5D-6C2FC6478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752975"/>
            <a:ext cx="3022600" cy="790575"/>
          </a:xfrm>
          <a:prstGeom xmlns:a="http://schemas.openxmlformats.org/drawingml/2006/main" prst="rect">
            <a:avLst>
              <a:gd name="adj" fmla="val 5435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0">
            <a:noFill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727151EE-EA4C-42DF-8E8A-5CD73B340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991100"/>
            <a:ext cx="28702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575" b="0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ctr">
              <a:lnSpc>
                <a:spcPct val="107000"/>
              </a:lnSpc>
              <a:buNone/>
              <a:defRPr sz="1575" b="0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pPr>
            <a:r>
              <a:rPr sz="1575" b="0" i="0">
                <a:solidFill>
                  <a:srgbClr val="10254A"/>
                </a:solidFill>
                <a:latin typeface="Segoe UI"/>
                <a:ea typeface="Segoe UI"/>
                <a:cs typeface="Segoe UI"/>
              </a:rPr>
              <a:t>Book</a:t>
            </a:r>
            <a:endParaRPr sz="1250"/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6C753395-FA75-4D97-9E22-F8E7721FA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1000" y="4752975"/>
            <a:ext cx="3022600" cy="790575"/>
          </a:xfrm>
          <a:prstGeom xmlns:a="http://schemas.openxmlformats.org/drawingml/2006/main" prst="rect">
            <a:avLst>
              <a:gd name="adj" fmla="val 5435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0">
            <a:noFill/>
          </a:ln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F4CD2FF2-7B0B-43B7-9F89-D4592741B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7200" y="4991100"/>
            <a:ext cx="28702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575" b="0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ctr">
              <a:lnSpc>
                <a:spcPct val="107000"/>
              </a:lnSpc>
              <a:buNone/>
              <a:defRPr sz="1575" b="0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pPr>
            <a:r>
              <a:rPr sz="1575" b="0" i="0">
                <a:solidFill>
                  <a:srgbClr val="10254A"/>
                </a:solidFill>
                <a:latin typeface="Segoe UI"/>
                <a:ea typeface="Segoe UI"/>
                <a:cs typeface="Segoe UI"/>
              </a:rPr>
              <a:t>User</a:t>
            </a:r>
            <a:endParaRPr sz="1250"/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622DD3CC-3757-4E2D-8BDD-B10DDACF9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7900" y="4752975"/>
            <a:ext cx="3022600" cy="790575"/>
          </a:xfrm>
          <a:prstGeom xmlns:a="http://schemas.openxmlformats.org/drawingml/2006/main" prst="rect">
            <a:avLst>
              <a:gd name="adj" fmla="val 5435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0">
            <a:noFill/>
          </a:ln>
        </p:spPr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E6B1C6E6-F0ED-44A6-B213-B9625B0A6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4100" y="4991100"/>
            <a:ext cx="28702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575" b="0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ctr">
              <a:lnSpc>
                <a:spcPct val="107000"/>
              </a:lnSpc>
              <a:buNone/>
              <a:defRPr sz="1575" b="0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pPr>
            <a:r>
              <a:rPr sz="1575" b="0" i="0">
                <a:solidFill>
                  <a:srgbClr val="10254A"/>
                </a:solidFill>
                <a:latin typeface="Segoe UI"/>
                <a:ea typeface="Segoe UI"/>
                <a:cs typeface="Segoe UI"/>
              </a:rPr>
              <a:t>Loan</a:t>
            </a:r>
            <a:endParaRPr sz="1250"/>
          </a:p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0FD878CF-8334-41DD-ADE0-A4F3FC453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76950"/>
            <a:ext cx="1066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 i="0">
                <a:solidFill>
                  <a:srgbClr val="6B7280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1350" b="0" i="0">
                <a:solidFill>
                  <a:srgbClr val="6B7280"/>
                </a:solidFill>
                <a:latin typeface="Segoe UI"/>
                <a:ea typeface="Segoe UI"/>
                <a:cs typeface="Segoe UI"/>
              </a:defRPr>
            </a:pPr>
            <a:r>
              <a:rPr sz="1350" b="0" i="0">
                <a:solidFill>
                  <a:srgbClr val="6B7280"/>
                </a:solidFill>
                <a:latin typeface="Segoe UI"/>
                <a:ea typeface="Segoe UI"/>
                <a:cs typeface="Segoe UI"/>
              </a:rPr>
              <a:t>The logic can be tested independently of console input.</a:t>
            </a:r>
            <a:endParaRPr sz="1350"/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5A6277B-B0D0-44BE-8292-30D3DA2F4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72250"/>
            <a:ext cx="9906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75" b="0">
                <a:solidFill>
                  <a:srgbClr val="6B7280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r">
              <a:lnSpc>
                <a:spcPct val="107000"/>
              </a:lnSpc>
              <a:buNone/>
              <a:defRPr sz="975" b="0">
                <a:solidFill>
                  <a:srgbClr val="6B7280"/>
                </a:solidFill>
                <a:latin typeface="Segoe UI"/>
                <a:ea typeface="Segoe UI"/>
                <a:cs typeface="Segoe UI"/>
              </a:defRPr>
            </a:pPr>
            <a:r>
              <a:rPr sz="975" b="0">
                <a:solidFill>
                  <a:srgbClr val="6B7280"/>
                </a:solidFill>
                <a:latin typeface="Segoe UI"/>
                <a:ea typeface="Segoe UI"/>
                <a:cs typeface="Segoe UI"/>
              </a:rPr>
              <a:t>03 / 08</a:t>
            </a:r>
          </a:p>
        </p:txBody>
      </p:sp>
    </p:spTree>
    <p:extLst>
      <p:ext uri="{BB962C8B-B14F-4D97-AF65-F5344CB8AC3E}">
        <p14:creationId xmlns:p14="http://schemas.microsoft.com/office/powerpoint/2010/main" val="2091356505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3DE8BEF-578B-44B5-A217-D3B01FAA1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3875"/>
            <a:ext cx="11087100" cy="628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3450" b="1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pPr>
            <a:r>
              <a:rPr sz="3450" b="1" i="0">
                <a:solidFill>
                  <a:srgbClr val="10254A"/>
                </a:solidFill>
                <a:latin typeface="Segoe UI"/>
                <a:ea typeface="Segoe UI"/>
                <a:cs typeface="Segoe UI"/>
              </a:rPr>
              <a:t>See it working</a:t>
            </a:r>
            <a:endParaRPr sz="3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E935773-F6F6-492F-A0D8-29AA8754C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81100"/>
            <a:ext cx="1104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 i="0">
                <a:solidFill>
                  <a:srgbClr val="6B7280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1575" b="0" i="0">
                <a:solidFill>
                  <a:srgbClr val="6B7280"/>
                </a:solidFill>
                <a:latin typeface="Segoe UI"/>
                <a:ea typeface="Segoe UI"/>
                <a:cs typeface="Segoe UI"/>
              </a:defRPr>
            </a:pPr>
            <a:r>
              <a:rPr sz="1575" b="0" i="0">
                <a:solidFill>
                  <a:srgbClr val="6B7280"/>
                </a:solidFill>
                <a:latin typeface="Segoe UI"/>
                <a:ea typeface="Segoe UI"/>
                <a:cs typeface="Segoe UI"/>
              </a:rPr>
              <a:t>Ten scenes. About four minutes. A repeatable, scripted walkthrough.</a:t>
            </a:r>
            <a:endParaRPr sz="14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A82C81D-37C7-46D3-A896-B6728EED7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621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 i="0">
                <a:solidFill>
                  <a:srgbClr val="C9A227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1725" b="1" i="0">
                <a:solidFill>
                  <a:srgbClr val="C9A227"/>
                </a:solidFill>
                <a:latin typeface="Segoe UI"/>
                <a:ea typeface="Segoe UI"/>
                <a:cs typeface="Segoe UI"/>
              </a:defRPr>
            </a:pPr>
            <a:r>
              <a:rPr sz="1725" b="1" i="0">
                <a:solidFill>
                  <a:srgbClr val="C9A227"/>
                </a:solidFill>
                <a:latin typeface="Segoe UI"/>
                <a:ea typeface="Segoe UI"/>
                <a:cs typeface="Segoe UI"/>
              </a:rPr>
              <a:t>01</a:t>
            </a:r>
            <a:endParaRPr sz="11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70BA5CE7-6D1B-4E77-8E2A-B01F73C2D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71650"/>
            <a:ext cx="3076575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1575" b="0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pPr>
            <a:r>
              <a:rPr sz="1575" b="0" i="0">
                <a:solidFill>
                  <a:srgbClr val="10254A"/>
                </a:solidFill>
                <a:latin typeface="Segoe UI"/>
                <a:ea typeface="Segoe UI"/>
                <a:cs typeface="Segoe UI"/>
              </a:rPr>
              <a:t>Search and borrow</a:t>
            </a:r>
            <a:endParaRPr sz="11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9C3E4AA2-A475-4E41-BE8D-1D0AF6180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717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 i="0">
                <a:solidFill>
                  <a:srgbClr val="C9A227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1725" b="1" i="0">
                <a:solidFill>
                  <a:srgbClr val="C9A227"/>
                </a:solidFill>
                <a:latin typeface="Segoe UI"/>
                <a:ea typeface="Segoe UI"/>
                <a:cs typeface="Segoe UI"/>
              </a:defRPr>
            </a:pPr>
            <a:r>
              <a:rPr sz="1725" b="1" i="0">
                <a:solidFill>
                  <a:srgbClr val="C9A227"/>
                </a:solidFill>
                <a:latin typeface="Segoe UI"/>
                <a:ea typeface="Segoe UI"/>
                <a:cs typeface="Segoe UI"/>
              </a:rPr>
              <a:t>02</a:t>
            </a:r>
            <a:endParaRPr sz="11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ED72986E-2BE9-47A8-8D7C-A78C6469A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81225"/>
            <a:ext cx="3076575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1575" b="0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pPr>
            <a:r>
              <a:rPr sz="1575" b="0" i="0">
                <a:solidFill>
                  <a:srgbClr val="10254A"/>
                </a:solidFill>
                <a:latin typeface="Segoe UI"/>
                <a:ea typeface="Segoe UI"/>
                <a:cs typeface="Segoe UI"/>
              </a:rPr>
              <a:t>A refusal explains why</a:t>
            </a:r>
            <a:endParaRPr sz="11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4BEDCF76-E993-4996-AA94-452D73026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8127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 i="0">
                <a:solidFill>
                  <a:srgbClr val="C9A227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1725" b="1" i="0">
                <a:solidFill>
                  <a:srgbClr val="C9A227"/>
                </a:solidFill>
                <a:latin typeface="Segoe UI"/>
                <a:ea typeface="Segoe UI"/>
                <a:cs typeface="Segoe UI"/>
              </a:defRPr>
            </a:pPr>
            <a:r>
              <a:rPr sz="1725" b="1" i="0">
                <a:solidFill>
                  <a:srgbClr val="C9A227"/>
                </a:solidFill>
                <a:latin typeface="Segoe UI"/>
                <a:ea typeface="Segoe UI"/>
                <a:cs typeface="Segoe UI"/>
              </a:rPr>
              <a:t>03</a:t>
            </a:r>
            <a:endParaRPr sz="11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9AF4405C-3E2D-46AC-A08A-66CE06A35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90800"/>
            <a:ext cx="3076575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1575" b="0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pPr>
            <a:r>
              <a:rPr sz="1575" b="0" i="0">
                <a:solidFill>
                  <a:srgbClr val="10254A"/>
                </a:solidFill>
                <a:latin typeface="Segoe UI"/>
                <a:ea typeface="Segoe UI"/>
                <a:cs typeface="Segoe UI"/>
              </a:rPr>
              <a:t>Place a reservation</a:t>
            </a:r>
            <a:endParaRPr sz="11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91EC2C07-8AD3-48A2-B5F1-23116A1FE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 i="0">
                <a:solidFill>
                  <a:srgbClr val="C9A227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1725" b="1" i="0">
                <a:solidFill>
                  <a:srgbClr val="C9A227"/>
                </a:solidFill>
                <a:latin typeface="Segoe UI"/>
                <a:ea typeface="Segoe UI"/>
                <a:cs typeface="Segoe UI"/>
              </a:defRPr>
            </a:pPr>
            <a:r>
              <a:rPr sz="1725" b="1" i="0">
                <a:solidFill>
                  <a:srgbClr val="C9A227"/>
                </a:solidFill>
                <a:latin typeface="Segoe UI"/>
                <a:ea typeface="Segoe UI"/>
                <a:cs typeface="Segoe UI"/>
              </a:rPr>
              <a:t>04</a:t>
            </a:r>
            <a:endParaRPr sz="11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095AE5E9-9680-4F53-B0FD-EBC7E2F46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00375"/>
            <a:ext cx="3076575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1575" b="0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pPr>
            <a:r>
              <a:rPr sz="1575" b="0" i="0">
                <a:solidFill>
                  <a:srgbClr val="10254A"/>
                </a:solidFill>
                <a:latin typeface="Segoe UI"/>
                <a:ea typeface="Segoe UI"/>
                <a:cs typeface="Segoe UI"/>
              </a:rPr>
              <a:t>Recommendations</a:t>
            </a:r>
            <a:endParaRPr sz="11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C3A13EA5-C0AB-4B5A-AEEA-86CAA1F2E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004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 i="0">
                <a:solidFill>
                  <a:srgbClr val="C9A227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1725" b="1" i="0">
                <a:solidFill>
                  <a:srgbClr val="C9A227"/>
                </a:solidFill>
                <a:latin typeface="Segoe UI"/>
                <a:ea typeface="Segoe UI"/>
                <a:cs typeface="Segoe UI"/>
              </a:defRPr>
            </a:pPr>
            <a:r>
              <a:rPr sz="1725" b="1" i="0">
                <a:solidFill>
                  <a:srgbClr val="C9A227"/>
                </a:solidFill>
                <a:latin typeface="Segoe UI"/>
                <a:ea typeface="Segoe UI"/>
                <a:cs typeface="Segoe UI"/>
              </a:rPr>
              <a:t>05</a:t>
            </a:r>
            <a:endParaRPr sz="11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F9E2FCE3-93F0-49FA-BDD4-8D1CB1137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09950"/>
            <a:ext cx="3076575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1575" b="0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pPr>
            <a:r>
              <a:rPr sz="1575" b="0" i="0">
                <a:solidFill>
                  <a:srgbClr val="10254A"/>
                </a:solidFill>
                <a:latin typeface="Segoe UI"/>
                <a:ea typeface="Segoe UI"/>
                <a:cs typeface="Segoe UI"/>
              </a:rPr>
              <a:t>Account and due dates</a:t>
            </a:r>
            <a:endParaRPr sz="11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AC484D2B-A4AD-47CA-9255-1ED8D5509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 i="0">
                <a:solidFill>
                  <a:srgbClr val="C9A227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1725" b="1" i="0">
                <a:solidFill>
                  <a:srgbClr val="C9A227"/>
                </a:solidFill>
                <a:latin typeface="Segoe UI"/>
                <a:ea typeface="Segoe UI"/>
                <a:cs typeface="Segoe UI"/>
              </a:defRPr>
            </a:pPr>
            <a:r>
              <a:rPr sz="1725" b="1" i="0">
                <a:solidFill>
                  <a:srgbClr val="C9A227"/>
                </a:solidFill>
                <a:latin typeface="Segoe UI"/>
                <a:ea typeface="Segoe UI"/>
                <a:cs typeface="Segoe UI"/>
              </a:rPr>
              <a:t>06</a:t>
            </a:r>
            <a:endParaRPr sz="11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E5FCF2DD-9115-4A40-86B8-D68F7C48E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19525"/>
            <a:ext cx="3076575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1575" b="0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pPr>
            <a:r>
              <a:rPr sz="1575" b="0" i="0">
                <a:solidFill>
                  <a:srgbClr val="10254A"/>
                </a:solidFill>
                <a:latin typeface="Segoe UI"/>
                <a:ea typeface="Segoe UI"/>
                <a:cs typeface="Segoe UI"/>
              </a:rPr>
              <a:t>Activity log and undo</a:t>
            </a:r>
            <a:endParaRPr sz="11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271BD7B7-80F6-4920-8267-1E16019E0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1957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 i="0">
                <a:solidFill>
                  <a:srgbClr val="C9A227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1725" b="1" i="0">
                <a:solidFill>
                  <a:srgbClr val="C9A227"/>
                </a:solidFill>
                <a:latin typeface="Segoe UI"/>
                <a:ea typeface="Segoe UI"/>
                <a:cs typeface="Segoe UI"/>
              </a:defRPr>
            </a:pPr>
            <a:r>
              <a:rPr sz="1725" b="1" i="0">
                <a:solidFill>
                  <a:srgbClr val="C9A227"/>
                </a:solidFill>
                <a:latin typeface="Segoe UI"/>
                <a:ea typeface="Segoe UI"/>
                <a:cs typeface="Segoe UI"/>
              </a:rPr>
              <a:t>07</a:t>
            </a:r>
            <a:endParaRPr sz="110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B987146E-E76C-4485-9149-2B579CFA7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229100"/>
            <a:ext cx="3076575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1575" b="0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pPr>
            <a:r>
              <a:rPr sz="1575" b="0" i="0">
                <a:solidFill>
                  <a:srgbClr val="10254A"/>
                </a:solidFill>
                <a:latin typeface="Segoe UI"/>
                <a:ea typeface="Segoe UI"/>
                <a:cs typeface="Segoe UI"/>
              </a:rPr>
              <a:t>Overdue report</a:t>
            </a:r>
            <a:endParaRPr sz="11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C6B0BC6E-22BD-40AD-A62E-0361954F9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2915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 i="0">
                <a:solidFill>
                  <a:srgbClr val="C9A227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1725" b="1" i="0">
                <a:solidFill>
                  <a:srgbClr val="C9A227"/>
                </a:solidFill>
                <a:latin typeface="Segoe UI"/>
                <a:ea typeface="Segoe UI"/>
                <a:cs typeface="Segoe UI"/>
              </a:defRPr>
            </a:pPr>
            <a:r>
              <a:rPr sz="1725" b="1" i="0">
                <a:solidFill>
                  <a:srgbClr val="C9A227"/>
                </a:solidFill>
                <a:latin typeface="Segoe UI"/>
                <a:ea typeface="Segoe UI"/>
                <a:cs typeface="Segoe UI"/>
              </a:rPr>
              <a:t>08</a:t>
            </a:r>
            <a:endParaRPr sz="11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335CF414-A28D-44A0-AE45-8E2A4788C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38675"/>
            <a:ext cx="3076575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1575" b="0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pPr>
            <a:r>
              <a:rPr sz="1575" b="0" i="0">
                <a:solidFill>
                  <a:srgbClr val="10254A"/>
                </a:solidFill>
                <a:latin typeface="Segoe UI"/>
                <a:ea typeface="Segoe UI"/>
                <a:cs typeface="Segoe UI"/>
              </a:rPr>
              <a:t>Inventory report</a:t>
            </a:r>
            <a:endParaRPr sz="11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FFCB57FB-C7A2-4721-AA5D-89ABD726D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387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 i="0">
                <a:solidFill>
                  <a:srgbClr val="C9A227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1725" b="1" i="0">
                <a:solidFill>
                  <a:srgbClr val="C9A227"/>
                </a:solidFill>
                <a:latin typeface="Segoe UI"/>
                <a:ea typeface="Segoe UI"/>
                <a:cs typeface="Segoe UI"/>
              </a:defRPr>
            </a:pPr>
            <a:r>
              <a:rPr sz="1725" b="1" i="0">
                <a:solidFill>
                  <a:srgbClr val="C9A227"/>
                </a:solidFill>
                <a:latin typeface="Segoe UI"/>
                <a:ea typeface="Segoe UI"/>
                <a:cs typeface="Segoe UI"/>
              </a:rPr>
              <a:t>09</a:t>
            </a:r>
            <a:endParaRPr sz="110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DBF5384B-3A96-4C55-83E1-8963B0126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048250"/>
            <a:ext cx="3076575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1575" b="0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pPr>
            <a:r>
              <a:rPr sz="1575" b="0" i="0">
                <a:solidFill>
                  <a:srgbClr val="10254A"/>
                </a:solidFill>
                <a:latin typeface="Segoe UI"/>
                <a:ea typeface="Segoe UI"/>
                <a:cs typeface="Segoe UI"/>
              </a:rPr>
              <a:t>Hold lists</a:t>
            </a:r>
            <a:endParaRPr sz="1100"/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93B6993C-ADE2-4AA1-B9D9-AE7E2518F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483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 i="0">
                <a:solidFill>
                  <a:srgbClr val="C9A227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1725" b="1" i="0">
                <a:solidFill>
                  <a:srgbClr val="C9A227"/>
                </a:solidFill>
                <a:latin typeface="Segoe UI"/>
                <a:ea typeface="Segoe UI"/>
                <a:cs typeface="Segoe UI"/>
              </a:defRPr>
            </a:pPr>
            <a:r>
              <a:rPr sz="1725" b="1" i="0">
                <a:solidFill>
                  <a:srgbClr val="C9A227"/>
                </a:solidFill>
                <a:latin typeface="Segoe UI"/>
                <a:ea typeface="Segoe UI"/>
                <a:cs typeface="Segoe UI"/>
              </a:rPr>
              <a:t>10</a:t>
            </a:r>
            <a:endParaRPr sz="1100"/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FEB861C5-E367-437E-A94C-7450C3EF2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457825"/>
            <a:ext cx="3076575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1575" b="0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pPr>
            <a:r>
              <a:rPr sz="1575" b="0" i="0">
                <a:solidFill>
                  <a:srgbClr val="10254A"/>
                </a:solidFill>
                <a:latin typeface="Segoe UI"/>
                <a:ea typeface="Segoe UI"/>
                <a:cs typeface="Segoe UI"/>
              </a:rPr>
              <a:t>Storage report</a:t>
            </a:r>
            <a:endParaRPr sz="1100"/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B864B75A-0B6D-49BB-B73B-85206E3D6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1790700"/>
            <a:ext cx="7210425" cy="2466975"/>
          </a:xfrm>
          <a:prstGeom xmlns:a="http://schemas.openxmlformats.org/drawingml/2006/main" prst="rect">
            <a:avLst>
              <a:gd name="adj" fmla="val 1538"/>
            </a:avLst>
          </a:prstGeom>
          <a:solidFill xmlns:a="http://schemas.openxmlformats.org/drawingml/2006/main">
            <a:srgbClr val="10254A"/>
          </a:solidFill>
          <a:ln xmlns:a="http://schemas.openxmlformats.org/drawingml/2006/main" w="0">
            <a:noFill/>
          </a:ln>
        </p:spPr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F7069026-2C98-4C6A-A350-D63A94DE9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1933575"/>
            <a:ext cx="6810375" cy="2209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12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SEARCH CATALOG            Mike / Student</a:t>
            </a:r>
            <a:endParaRPr sz="900"/>
          </a:p>
          <a:p xmlns:a="http://schemas.openxmlformats.org/drawingml/2006/main">
            <a:pPr marL="0" indent="0" algn="l">
              <a:lnSpc>
                <a:spcPct val="107000"/>
              </a:lnSpc>
              <a:buNone/>
              <a:defRPr sz="12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------------------------------------------</a:t>
            </a:r>
            <a:endParaRPr sz="900"/>
          </a:p>
          <a:p xmlns:a="http://schemas.openxmlformats.org/drawingml/2006/main">
            <a:pPr marL="0" indent="0" algn="l">
              <a:lnSpc>
                <a:spcPct val="107000"/>
              </a:lnSpc>
              <a:buNone/>
              <a:defRPr sz="12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Title or author: apollo</a:t>
            </a:r>
            <a:endParaRPr sz="900"/>
          </a:p>
          <a:p xmlns:a="http://schemas.openxmlformats.org/drawingml/2006/main">
            <a:pPr marL="0" indent="0" algn="l">
              <a:lnSpc>
                <a:spcPct val="107000"/>
              </a:lnSpc>
              <a:buNone/>
              <a:defRPr sz="12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1. Digital Apollo        3 available</a:t>
            </a:r>
            <a:endParaRPr sz="900"/>
          </a:p>
          <a:p xmlns:a="http://schemas.openxmlformats.org/drawingml/2006/main">
            <a:pPr marL="0" indent="0" algn="l">
              <a:lnSpc>
                <a:spcPct val="107000"/>
              </a:lnSpc>
              <a:buNone/>
              <a:defRPr sz="12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2. The Apollo Guidance   all copies out</a:t>
            </a:r>
            <a:endParaRPr sz="900"/>
          </a:p>
          <a:p xmlns:a="http://schemas.openxmlformats.org/drawingml/2006/main">
            <a:pPr marL="0" indent="0" algn="l">
              <a:lnSpc>
                <a:spcPct val="107000"/>
              </a:lnSpc>
              <a:buNone/>
              <a:defRPr sz="12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2 titles found.</a:t>
            </a:r>
            <a:endParaRPr sz="900"/>
          </a:p>
          <a:p xmlns:a="http://schemas.openxmlformats.org/drawingml/2006/main">
            <a:pPr marL="0" indent="0" algn="l">
              <a:lnSpc>
                <a:spcPct val="107000"/>
              </a:lnSpc>
              <a:buNone/>
              <a:defRPr sz="12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3. Back to menu</a:t>
            </a:r>
            <a:endParaRPr sz="900"/>
          </a:p>
          <a:p xmlns:a="http://schemas.openxmlformats.org/drawingml/2006/main">
            <a:pPr marL="0" indent="0" algn="l">
              <a:lnSpc>
                <a:spcPct val="107000"/>
              </a:lnSpc>
              <a:buNone/>
              <a:defRPr sz="12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Select [1-3]: 1</a:t>
            </a:r>
            <a:endParaRPr sz="900"/>
          </a:p>
          <a:p xmlns:a="http://schemas.openxmlformats.org/drawingml/2006/main">
            <a:pPr marL="0" indent="0" algn="l">
              <a:lnSpc>
                <a:spcPct val="107000"/>
              </a:lnSpc>
              <a:buNone/>
              <a:defRPr sz="12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Checked out: Digital Apollo</a:t>
            </a:r>
            <a:endParaRPr sz="900"/>
          </a:p>
          <a:p xmlns:a="http://schemas.openxmlformats.org/drawingml/2006/main">
            <a:pPr marL="0" indent="0" algn="l">
              <a:lnSpc>
                <a:spcPct val="107000"/>
              </a:lnSpc>
              <a:buNone/>
              <a:defRPr sz="12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Due in 21 days (day 121).</a:t>
            </a:r>
            <a:endParaRPr sz="900"/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23D14479-D77F-4158-8A49-091BD4BB7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4410075"/>
            <a:ext cx="7210425" cy="1466850"/>
          </a:xfrm>
          <a:prstGeom xmlns:a="http://schemas.openxmlformats.org/drawingml/2006/main" prst="rect">
            <a:avLst>
              <a:gd name="adj" fmla="val 2286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0">
            <a:noFill/>
          </a:ln>
        </p:spPr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B5E5CB3D-673D-46E3-8A7B-A80A2F3F1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4543425"/>
            <a:ext cx="6810375" cy="1266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 i="0">
                <a:solidFill>
                  <a:srgbClr val="10254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1275" b="0" i="0">
                <a:solidFill>
                  <a:srgbClr val="10254A"/>
                </a:solidFill>
                <a:latin typeface="Consolas"/>
                <a:ea typeface="Consolas"/>
                <a:cs typeface="Consolas"/>
              </a:defRPr>
            </a:pPr>
            <a:r>
              <a:rPr sz="1275" b="0" i="0">
                <a:solidFill>
                  <a:srgbClr val="10254A"/>
                </a:solidFill>
                <a:latin typeface="Consolas"/>
                <a:ea typeface="Consolas"/>
                <a:cs typeface="Consolas"/>
              </a:rPr>
              <a:t> OVERDUE REPORT       A. Rivera / Librarian</a:t>
            </a:r>
            <a:endParaRPr sz="900"/>
          </a:p>
          <a:p xmlns:a="http://schemas.openxmlformats.org/drawingml/2006/main">
            <a:pPr marL="0" indent="0" algn="l">
              <a:lnSpc>
                <a:spcPct val="107000"/>
              </a:lnSpc>
              <a:buNone/>
              <a:defRPr sz="1275" b="0" i="0">
                <a:solidFill>
                  <a:srgbClr val="10254A"/>
                </a:solidFill>
                <a:latin typeface="Consolas"/>
                <a:ea typeface="Consolas"/>
                <a:cs typeface="Consolas"/>
              </a:defRPr>
            </a:pPr>
            <a:r>
              <a:rPr sz="1275" b="0" i="0">
                <a:solidFill>
                  <a:srgbClr val="10254A"/>
                </a:solidFill>
                <a:latin typeface="Consolas"/>
                <a:ea typeface="Consolas"/>
                <a:cs typeface="Consolas"/>
              </a:rPr>
              <a:t>------------------------------------------</a:t>
            </a:r>
            <a:endParaRPr sz="900"/>
          </a:p>
          <a:p xmlns:a="http://schemas.openxmlformats.org/drawingml/2006/main">
            <a:pPr marL="0" indent="0" algn="l">
              <a:lnSpc>
                <a:spcPct val="107000"/>
              </a:lnSpc>
              <a:buNone/>
              <a:defRPr sz="1275" b="0" i="0">
                <a:solidFill>
                  <a:srgbClr val="10254A"/>
                </a:solidFill>
                <a:latin typeface="Consolas"/>
                <a:ea typeface="Consolas"/>
                <a:cs typeface="Consolas"/>
              </a:defRPr>
            </a:pPr>
            <a:r>
              <a:rPr sz="1275" b="0" i="0">
                <a:solidFill>
                  <a:srgbClr val="10254A"/>
                </a:solidFill>
                <a:latin typeface="Consolas"/>
                <a:ea typeface="Consolas"/>
                <a:cs typeface="Consolas"/>
              </a:rPr>
              <a:t> As of day 100</a:t>
            </a:r>
            <a:endParaRPr sz="900"/>
          </a:p>
          <a:p xmlns:a="http://schemas.openxmlformats.org/drawingml/2006/main">
            <a:pPr marL="0" indent="0" algn="l">
              <a:lnSpc>
                <a:spcPct val="107000"/>
              </a:lnSpc>
              <a:buNone/>
              <a:defRPr sz="1275" b="0" i="0">
                <a:solidFill>
                  <a:srgbClr val="10254A"/>
                </a:solidFill>
                <a:latin typeface="Consolas"/>
                <a:ea typeface="Consolas"/>
                <a:cs typeface="Consolas"/>
              </a:defRPr>
            </a:pPr>
            <a:r>
              <a:rPr sz="1275" b="0" i="0">
                <a:solidFill>
                  <a:srgbClr val="10254A"/>
                </a:solidFill>
                <a:latin typeface="Consolas"/>
                <a:ea typeface="Consolas"/>
                <a:cs typeface="Consolas"/>
              </a:rPr>
              <a:t>   Design Patterns    Priya     9 days late</a:t>
            </a:r>
            <a:endParaRPr sz="900"/>
          </a:p>
          <a:p xmlns:a="http://schemas.openxmlformats.org/drawingml/2006/main">
            <a:pPr marL="0" indent="0" algn="l">
              <a:lnSpc>
                <a:spcPct val="107000"/>
              </a:lnSpc>
              <a:buNone/>
              <a:defRPr sz="1275" b="0" i="0">
                <a:solidFill>
                  <a:srgbClr val="10254A"/>
                </a:solidFill>
                <a:latin typeface="Consolas"/>
                <a:ea typeface="Consolas"/>
                <a:cs typeface="Consolas"/>
              </a:defRPr>
            </a:pPr>
            <a:r>
              <a:rPr sz="1275" b="0" i="0">
                <a:solidFill>
                  <a:srgbClr val="10254A"/>
                </a:solidFill>
                <a:latin typeface="Consolas"/>
                <a:ea typeface="Consolas"/>
                <a:cs typeface="Consolas"/>
              </a:rPr>
              <a:t>   The Lean Startup   Sam       4 days late</a:t>
            </a:r>
            <a:endParaRPr sz="900"/>
          </a:p>
          <a:p xmlns:a="http://schemas.openxmlformats.org/drawingml/2006/main">
            <a:pPr marL="0" indent="0" algn="l">
              <a:lnSpc>
                <a:spcPct val="107000"/>
              </a:lnSpc>
              <a:buNone/>
              <a:defRPr sz="1275" b="0" i="0">
                <a:solidFill>
                  <a:srgbClr val="10254A"/>
                </a:solidFill>
                <a:latin typeface="Consolas"/>
                <a:ea typeface="Consolas"/>
                <a:cs typeface="Consolas"/>
              </a:defRPr>
            </a:pPr>
            <a:r>
              <a:rPr sz="1275" b="0" i="0">
                <a:solidFill>
                  <a:srgbClr val="10254A"/>
                </a:solidFill>
                <a:latin typeface="Consolas"/>
                <a:ea typeface="Consolas"/>
                <a:cs typeface="Consolas"/>
              </a:rPr>
              <a:t>   2 overdue items.</a:t>
            </a:r>
            <a:endParaRPr sz="900"/>
          </a:p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ADD8AF1B-AEF9-4391-B7F5-77485DF3F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76950"/>
            <a:ext cx="1066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 i="0">
                <a:solidFill>
                  <a:srgbClr val="6B7280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1350" b="0" i="0">
                <a:solidFill>
                  <a:srgbClr val="6B7280"/>
                </a:solidFill>
                <a:latin typeface="Segoe UI"/>
                <a:ea typeface="Segoe UI"/>
                <a:cs typeface="Segoe UI"/>
              </a:defRPr>
            </a:pPr>
            <a:r>
              <a:rPr sz="1350" b="0" i="0">
                <a:solidFill>
                  <a:srgbClr val="6B7280"/>
                </a:solidFill>
                <a:latin typeface="Segoe UI"/>
                <a:ea typeface="Segoe UI"/>
                <a:cs typeface="Segoe UI"/>
              </a:rPr>
              <a:t>Recorded output provides a fallback; the supplied verification checks repeatable demo output.</a:t>
            </a:r>
            <a:endParaRPr sz="1300"/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AC01E78-58C5-49D2-A71A-115482D32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72250"/>
            <a:ext cx="9906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75" b="0">
                <a:solidFill>
                  <a:srgbClr val="6B7280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r">
              <a:lnSpc>
                <a:spcPct val="107000"/>
              </a:lnSpc>
              <a:buNone/>
              <a:defRPr sz="975" b="0">
                <a:solidFill>
                  <a:srgbClr val="6B7280"/>
                </a:solidFill>
                <a:latin typeface="Segoe UI"/>
                <a:ea typeface="Segoe UI"/>
                <a:cs typeface="Segoe UI"/>
              </a:defRPr>
            </a:pPr>
            <a:r>
              <a:rPr sz="975" b="0">
                <a:solidFill>
                  <a:srgbClr val="6B7280"/>
                </a:solidFill>
                <a:latin typeface="Segoe UI"/>
                <a:ea typeface="Segoe UI"/>
                <a:cs typeface="Segoe UI"/>
              </a:rPr>
              <a:t>04 / 08</a:t>
            </a:r>
          </a:p>
        </p:txBody>
      </p:sp>
    </p:spTree>
    <p:extLst>
      <p:ext uri="{BB962C8B-B14F-4D97-AF65-F5344CB8AC3E}">
        <p14:creationId xmlns:p14="http://schemas.microsoft.com/office/powerpoint/2010/main" val="1965559685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C401BFA-A95F-49AD-B828-90D00BCA2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3875"/>
            <a:ext cx="11087100" cy="628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3450" b="1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pPr>
            <a:r>
              <a:rPr sz="3450" b="1" i="0">
                <a:solidFill>
                  <a:srgbClr val="10254A"/>
                </a:solidFill>
                <a:latin typeface="Segoe UI"/>
                <a:ea typeface="Segoe UI"/>
                <a:cs typeface="Segoe UI"/>
              </a:rPr>
              <a:t>The right structure for the job</a:t>
            </a:r>
            <a:endParaRPr sz="3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4606F9E-A8F5-409D-AB56-867D2A03F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81100"/>
            <a:ext cx="1104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 i="0">
                <a:solidFill>
                  <a:srgbClr val="6B7280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1575" b="0" i="0">
                <a:solidFill>
                  <a:srgbClr val="6B7280"/>
                </a:solidFill>
                <a:latin typeface="Segoe UI"/>
                <a:ea typeface="Segoe UI"/>
                <a:cs typeface="Segoe UI"/>
              </a:defRPr>
            </a:pPr>
            <a:r>
              <a:rPr sz="1575" b="0" i="0">
                <a:solidFill>
                  <a:srgbClr val="6B7280"/>
                </a:solidFill>
                <a:latin typeface="Segoe UI"/>
                <a:ea typeface="Segoe UI"/>
                <a:cs typeface="Segoe UI"/>
              </a:rPr>
              <a:t>Start with the question the system must answer.</a:t>
            </a:r>
            <a:endParaRPr sz="1400"/>
          </a:p>
        </p:txBody>
      </p:sp>
      <p:graphicFrame>
        <p:nvGraphicFramePr>
          <p:cNvPr id="6" name="Table 0">
            <a:extLst xmlns:a="http://schemas.openxmlformats.org/drawingml/2006/main">
              <a:ext uri="{FF2B5EF4-FFF2-40B4-BE49-F238E27FC236}">
                <a16:creationId xmlns:a16="http://schemas.microsoft.com/office/drawing/2014/main" id="{879C94A9-B95F-411E-BEBD-E55AF94A9916}"/>
              </a:ext>
            </a:extLst>
          </p:cNvPr>
          <p:cNvGraphicFramePr/>
          <p:nvPr/>
        </p:nvGraphicFramePr>
        <p:xfrm>
          <a:off xmlns:a="http://schemas.openxmlformats.org/drawingml/2006/main" x="548640" y="1536192"/>
          <a:ext xmlns:a="http://schemas.openxmlformats.org/drawingml/2006/main" cx="9144000" cy="914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62250"/>
                <a:gridCol w="2876550"/>
                <a:gridCol w="5425440"/>
              </a:tblGrid>
              <a:tr h="457200">
                <a:tc>
                  <a:txBody>
                    <a:bodyPr wrap="square" lIns="133350" tIns="85725" rIns="114300" bIns="85725">
                      <a:noAutofit/>
                    </a:bodyPr>
                    <a:lstStyle/>
                    <a:p>
                      <a:pPr marL="0" indent="0">
                        <a:lnSpc>
                          <a:spcPct val="103000"/>
                        </a:lnSpc>
                        <a:buNone/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THE QUESTION</a:t>
                      </a:r>
                      <a:endParaRPr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1600" marR="101600" marT="63500" marB="63500" anchor="ctr">
                    <a:lnL w="6350" cmpd="sng">
                      <a:solidFill>
                        <a:srgbClr val="DDE2EA"/>
                      </a:solidFill>
                      <a:prstDash val="solid"/>
                    </a:lnL>
                    <a:lnR w="6350" cmpd="sng">
                      <a:solidFill>
                        <a:srgbClr val="DDE2EA"/>
                      </a:solidFill>
                      <a:prstDash val="solid"/>
                    </a:lnR>
                    <a:lnT w="6350" cmpd="sng">
                      <a:solidFill>
                        <a:srgbClr val="DDE2EA"/>
                      </a:solidFill>
                      <a:prstDash val="solid"/>
                    </a:lnT>
                    <a:lnB w="6350" cmpd="sng">
                      <a:solidFill>
                        <a:srgbClr val="DDE2EA"/>
                      </a:solidFill>
                      <a:prstDash val="solid"/>
                    </a:lnB>
                    <a:solidFill>
                      <a:srgbClr val="10254A"/>
                    </a:solidFill>
                  </a:tcPr>
                </a:tc>
                <a:tc>
                  <a:txBody>
                    <a:bodyPr wrap="square" lIns="133350" tIns="85725" rIns="114300" bIns="85725">
                      <a:noAutofit/>
                    </a:bodyPr>
                    <a:lstStyle/>
                    <a:p>
                      <a:pPr marL="0" indent="0">
                        <a:lnSpc>
                          <a:spcPct val="103000"/>
                        </a:lnSpc>
                        <a:buNone/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THE STRUCTURE</a:t>
                      </a:r>
                      <a:endParaRPr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1600" marR="101600" marT="63500" marB="63500" anchor="ctr">
                    <a:lnL w="6350" cmpd="sng">
                      <a:solidFill>
                        <a:srgbClr val="DDE2EA"/>
                      </a:solidFill>
                      <a:prstDash val="solid"/>
                    </a:lnL>
                    <a:lnR w="6350" cmpd="sng">
                      <a:solidFill>
                        <a:srgbClr val="DDE2EA"/>
                      </a:solidFill>
                      <a:prstDash val="solid"/>
                    </a:lnR>
                    <a:lnT w="6350" cmpd="sng">
                      <a:solidFill>
                        <a:srgbClr val="DDE2EA"/>
                      </a:solidFill>
                      <a:prstDash val="solid"/>
                    </a:lnT>
                    <a:lnB w="6350" cmpd="sng">
                      <a:solidFill>
                        <a:srgbClr val="DDE2EA"/>
                      </a:solidFill>
                      <a:prstDash val="solid"/>
                    </a:lnB>
                    <a:solidFill>
                      <a:srgbClr val="10254A"/>
                    </a:solidFill>
                  </a:tcPr>
                </a:tc>
                <a:tc>
                  <a:txBody>
                    <a:bodyPr wrap="square" lIns="133350" tIns="85725" rIns="114300" bIns="85725">
                      <a:noAutofit/>
                    </a:bodyPr>
                    <a:lstStyle/>
                    <a:p>
                      <a:pPr marL="0" indent="0">
                        <a:lnSpc>
                          <a:spcPct val="103000"/>
                        </a:lnSpc>
                        <a:buNone/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WHY IT FITS</a:t>
                      </a:r>
                      <a:endParaRPr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1600" marR="101600" marT="63500" marB="63500" anchor="ctr">
                    <a:lnL w="6350" cmpd="sng">
                      <a:solidFill>
                        <a:srgbClr val="DDE2EA"/>
                      </a:solidFill>
                      <a:prstDash val="solid"/>
                    </a:lnL>
                    <a:lnR w="6350" cmpd="sng">
                      <a:solidFill>
                        <a:srgbClr val="DDE2EA"/>
                      </a:solidFill>
                      <a:prstDash val="solid"/>
                    </a:lnR>
                    <a:lnT w="6350" cmpd="sng">
                      <a:solidFill>
                        <a:srgbClr val="DDE2EA"/>
                      </a:solidFill>
                      <a:prstDash val="solid"/>
                    </a:lnT>
                    <a:lnB w="6350" cmpd="sng">
                      <a:solidFill>
                        <a:srgbClr val="DDE2EA"/>
                      </a:solidFill>
                      <a:prstDash val="solid"/>
                    </a:lnB>
                    <a:solidFill>
                      <a:srgbClr val="10254A"/>
                    </a:solidFill>
                  </a:tcPr>
                </a:tc>
              </a:tr>
              <a:tr h="714375">
                <a:tc>
                  <a:txBody>
                    <a:bodyPr wrap="square" lIns="133350" tIns="85725" rIns="114300" bIns="85725">
                      <a:noAutofit/>
                    </a:bodyPr>
                    <a:lstStyle/>
                    <a:p>
                      <a:pPr marL="0" indent="0">
                        <a:lnSpc>
                          <a:spcPct val="103000"/>
                        </a:lnSpc>
                        <a:buNone/>
                      </a:pPr>
                      <a:r>
                        <a:rPr sz="1500" b="0">
                          <a:solidFill>
                            <a:srgbClr val="10254A"/>
                          </a:solidFill>
                          <a:latin typeface="Segoe UI"/>
                          <a:ea typeface="Segoe UI"/>
                          <a:cs typeface="Segoe UI"/>
                        </a:rPr>
                        <a:t>Where is this exact book?</a:t>
                      </a:r>
                      <a:endParaRPr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1600" marR="101600" marT="63500" marB="63500" anchor="ctr">
                    <a:lnL w="6350" cmpd="sng">
                      <a:solidFill>
                        <a:srgbClr val="DDE2EA"/>
                      </a:solidFill>
                      <a:prstDash val="solid"/>
                    </a:lnL>
                    <a:lnR w="6350" cmpd="sng">
                      <a:solidFill>
                        <a:srgbClr val="DDE2EA"/>
                      </a:solidFill>
                      <a:prstDash val="solid"/>
                    </a:lnR>
                    <a:lnT w="6350" cmpd="sng">
                      <a:solidFill>
                        <a:srgbClr val="DDE2EA"/>
                      </a:solidFill>
                      <a:prstDash val="solid"/>
                    </a:lnT>
                    <a:lnB w="6350" cmpd="sng">
                      <a:solidFill>
                        <a:srgbClr val="DDE2EA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wrap="square" lIns="133350" tIns="85725" rIns="114300" bIns="85725">
                      <a:noAutofit/>
                    </a:bodyPr>
                    <a:lstStyle/>
                    <a:p>
                      <a:pPr marL="0" indent="0">
                        <a:lnSpc>
                          <a:spcPct val="103000"/>
                        </a:lnSpc>
                        <a:buNone/>
                      </a:pPr>
                      <a:r>
                        <a:rPr sz="1500" b="1">
                          <a:solidFill>
                            <a:srgbClr val="10254A"/>
                          </a:solidFill>
                          <a:latin typeface="Segoe UI"/>
                          <a:ea typeface="Segoe UI"/>
                          <a:cs typeface="Segoe UI"/>
                        </a:rPr>
                        <a:t>Hash table on ISBN</a:t>
                      </a:r>
                      <a:endParaRPr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1600" marR="101600" marT="63500" marB="63500" anchor="ctr">
                    <a:lnL w="6350" cmpd="sng">
                      <a:solidFill>
                        <a:srgbClr val="DDE2EA"/>
                      </a:solidFill>
                      <a:prstDash val="solid"/>
                    </a:lnL>
                    <a:lnR w="6350" cmpd="sng">
                      <a:solidFill>
                        <a:srgbClr val="DDE2EA"/>
                      </a:solidFill>
                      <a:prstDash val="solid"/>
                    </a:lnR>
                    <a:lnT w="6350" cmpd="sng">
                      <a:solidFill>
                        <a:srgbClr val="DDE2EA"/>
                      </a:solidFill>
                      <a:prstDash val="solid"/>
                    </a:lnT>
                    <a:lnB w="6350" cmpd="sng">
                      <a:solidFill>
                        <a:srgbClr val="DDE2EA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wrap="square" lIns="133350" tIns="85725" rIns="114300" bIns="85725">
                      <a:noAutofit/>
                    </a:bodyPr>
                    <a:lstStyle/>
                    <a:p>
                      <a:pPr marL="0" indent="0">
                        <a:lnSpc>
                          <a:spcPct val="103000"/>
                        </a:lnSpc>
                        <a:buNone/>
                      </a:pPr>
                      <a:r>
                        <a:rPr sz="1500" b="0">
                          <a:solidFill>
                            <a:srgbClr val="10254A"/>
                          </a:solidFill>
                          <a:latin typeface="Segoe UI"/>
                          <a:ea typeface="Segoe UI"/>
                          <a:cs typeface="Segoe UI"/>
                        </a:rPr>
                        <a:t>One bucket lookup on average, whatever the catalog size.</a:t>
                      </a:r>
                      <a:endParaRPr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1600" marR="101600" marT="63500" marB="63500" anchor="ctr">
                    <a:lnL w="6350" cmpd="sng">
                      <a:solidFill>
                        <a:srgbClr val="DDE2EA"/>
                      </a:solidFill>
                      <a:prstDash val="solid"/>
                    </a:lnL>
                    <a:lnR w="6350" cmpd="sng">
                      <a:solidFill>
                        <a:srgbClr val="DDE2EA"/>
                      </a:solidFill>
                      <a:prstDash val="solid"/>
                    </a:lnR>
                    <a:lnT w="6350" cmpd="sng">
                      <a:solidFill>
                        <a:srgbClr val="DDE2EA"/>
                      </a:solidFill>
                      <a:prstDash val="solid"/>
                    </a:lnT>
                    <a:lnB w="6350" cmpd="sng">
                      <a:solidFill>
                        <a:srgbClr val="DDE2EA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</a:tr>
              <a:tr h="714375">
                <a:tc>
                  <a:txBody>
                    <a:bodyPr wrap="square" lIns="133350" tIns="85725" rIns="114300" bIns="85725">
                      <a:noAutofit/>
                    </a:bodyPr>
                    <a:lstStyle/>
                    <a:p>
                      <a:pPr marL="0" indent="0">
                        <a:lnSpc>
                          <a:spcPct val="103000"/>
                        </a:lnSpc>
                        <a:buNone/>
                      </a:pPr>
                      <a:r>
                        <a:rPr sz="1500" b="0">
                          <a:solidFill>
                            <a:srgbClr val="10254A"/>
                          </a:solidFill>
                          <a:latin typeface="Segoe UI"/>
                          <a:ea typeface="Segoe UI"/>
                          <a:cs typeface="Segoe UI"/>
                        </a:rPr>
                        <a:t>What is due soonest?</a:t>
                      </a:r>
                      <a:endParaRPr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1600" marR="101600" marT="63500" marB="63500" anchor="ctr">
                    <a:lnL w="6350" cmpd="sng">
                      <a:solidFill>
                        <a:srgbClr val="DDE2EA"/>
                      </a:solidFill>
                      <a:prstDash val="solid"/>
                    </a:lnL>
                    <a:lnR w="6350" cmpd="sng">
                      <a:solidFill>
                        <a:srgbClr val="DDE2EA"/>
                      </a:solidFill>
                      <a:prstDash val="solid"/>
                    </a:lnR>
                    <a:lnT w="6350" cmpd="sng">
                      <a:solidFill>
                        <a:srgbClr val="DDE2EA"/>
                      </a:solidFill>
                      <a:prstDash val="solid"/>
                    </a:lnT>
                    <a:lnB w="6350" cmpd="sng">
                      <a:solidFill>
                        <a:srgbClr val="DDE2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85725" rIns="114300" bIns="85725">
                      <a:noAutofit/>
                    </a:bodyPr>
                    <a:lstStyle/>
                    <a:p>
                      <a:pPr marL="0" indent="0">
                        <a:lnSpc>
                          <a:spcPct val="103000"/>
                        </a:lnSpc>
                        <a:buNone/>
                      </a:pPr>
                      <a:r>
                        <a:rPr sz="1500" b="1">
                          <a:solidFill>
                            <a:srgbClr val="10254A"/>
                          </a:solidFill>
                          <a:latin typeface="Segoe UI"/>
                          <a:ea typeface="Segoe UI"/>
                          <a:cs typeface="Segoe UI"/>
                        </a:rPr>
                        <a:t>Min-heap on due date</a:t>
                      </a:r>
                      <a:endParaRPr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1600" marR="101600" marT="63500" marB="63500" anchor="ctr">
                    <a:lnL w="6350" cmpd="sng">
                      <a:solidFill>
                        <a:srgbClr val="DDE2EA"/>
                      </a:solidFill>
                      <a:prstDash val="solid"/>
                    </a:lnL>
                    <a:lnR w="6350" cmpd="sng">
                      <a:solidFill>
                        <a:srgbClr val="DDE2EA"/>
                      </a:solidFill>
                      <a:prstDash val="solid"/>
                    </a:lnR>
                    <a:lnT w="6350" cmpd="sng">
                      <a:solidFill>
                        <a:srgbClr val="DDE2EA"/>
                      </a:solidFill>
                      <a:prstDash val="solid"/>
                    </a:lnT>
                    <a:lnB w="6350" cmpd="sng">
                      <a:solidFill>
                        <a:srgbClr val="DDE2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85725" rIns="114300" bIns="85725">
                      <a:noAutofit/>
                    </a:bodyPr>
                    <a:lstStyle/>
                    <a:p>
                      <a:pPr marL="0" indent="0">
                        <a:lnSpc>
                          <a:spcPct val="103000"/>
                        </a:lnSpc>
                        <a:buNone/>
                      </a:pPr>
                      <a:r>
                        <a:rPr sz="1500" b="0">
                          <a:solidFill>
                            <a:srgbClr val="10254A"/>
                          </a:solidFill>
                          <a:latin typeface="Segoe UI"/>
                          <a:ea typeface="Segoe UI"/>
                          <a:cs typeface="Segoe UI"/>
                        </a:rPr>
                        <a:t>Earliest sits on top. The report copies the heap before draining it.</a:t>
                      </a:r>
                      <a:endParaRPr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1600" marR="101600" marT="63500" marB="63500" anchor="ctr">
                    <a:lnL w="6350" cmpd="sng">
                      <a:solidFill>
                        <a:srgbClr val="DDE2EA"/>
                      </a:solidFill>
                      <a:prstDash val="solid"/>
                    </a:lnL>
                    <a:lnR w="6350" cmpd="sng">
                      <a:solidFill>
                        <a:srgbClr val="DDE2EA"/>
                      </a:solidFill>
                      <a:prstDash val="solid"/>
                    </a:lnR>
                    <a:lnT w="6350" cmpd="sng">
                      <a:solidFill>
                        <a:srgbClr val="DDE2EA"/>
                      </a:solidFill>
                      <a:prstDash val="solid"/>
                    </a:lnT>
                    <a:lnB w="6350" cmpd="sng">
                      <a:solidFill>
                        <a:srgbClr val="DDE2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 wrap="square" lIns="133350" tIns="85725" rIns="114300" bIns="85725">
                      <a:noAutofit/>
                    </a:bodyPr>
                    <a:lstStyle/>
                    <a:p>
                      <a:pPr marL="0" indent="0">
                        <a:lnSpc>
                          <a:spcPct val="103000"/>
                        </a:lnSpc>
                        <a:buNone/>
                      </a:pPr>
                      <a:r>
                        <a:rPr sz="1500" b="0">
                          <a:solidFill>
                            <a:srgbClr val="10254A"/>
                          </a:solidFill>
                          <a:latin typeface="Segoe UI"/>
                          <a:ea typeface="Segoe UI"/>
                          <a:cs typeface="Segoe UI"/>
                        </a:rPr>
                        <a:t>Who is this patron?</a:t>
                      </a:r>
                      <a:endParaRPr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1600" marR="101600" marT="63500" marB="63500" anchor="ctr">
                    <a:lnL w="6350" cmpd="sng">
                      <a:solidFill>
                        <a:srgbClr val="DDE2EA"/>
                      </a:solidFill>
                      <a:prstDash val="solid"/>
                    </a:lnL>
                    <a:lnR w="6350" cmpd="sng">
                      <a:solidFill>
                        <a:srgbClr val="DDE2EA"/>
                      </a:solidFill>
                      <a:prstDash val="solid"/>
                    </a:lnR>
                    <a:lnT w="6350" cmpd="sng">
                      <a:solidFill>
                        <a:srgbClr val="DDE2EA"/>
                      </a:solidFill>
                      <a:prstDash val="solid"/>
                    </a:lnT>
                    <a:lnB w="6350" cmpd="sng">
                      <a:solidFill>
                        <a:srgbClr val="DDE2EA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wrap="square" lIns="133350" tIns="85725" rIns="114300" bIns="85725">
                      <a:noAutofit/>
                    </a:bodyPr>
                    <a:lstStyle/>
                    <a:p>
                      <a:pPr marL="0" indent="0">
                        <a:lnSpc>
                          <a:spcPct val="103000"/>
                        </a:lnSpc>
                        <a:buNone/>
                      </a:pPr>
                      <a:r>
                        <a:rPr sz="1500" b="1">
                          <a:solidFill>
                            <a:srgbClr val="10254A"/>
                          </a:solidFill>
                          <a:latin typeface="Segoe UI"/>
                          <a:ea typeface="Segoe UI"/>
                          <a:cs typeface="Segoe UI"/>
                        </a:rPr>
                        <a:t>Linked list + index</a:t>
                      </a:r>
                      <a:endParaRPr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1600" marR="101600" marT="63500" marB="63500" anchor="ctr">
                    <a:lnL w="6350" cmpd="sng">
                      <a:solidFill>
                        <a:srgbClr val="DDE2EA"/>
                      </a:solidFill>
                      <a:prstDash val="solid"/>
                    </a:lnL>
                    <a:lnR w="6350" cmpd="sng">
                      <a:solidFill>
                        <a:srgbClr val="DDE2EA"/>
                      </a:solidFill>
                      <a:prstDash val="solid"/>
                    </a:lnR>
                    <a:lnT w="6350" cmpd="sng">
                      <a:solidFill>
                        <a:srgbClr val="DDE2EA"/>
                      </a:solidFill>
                      <a:prstDash val="solid"/>
                    </a:lnT>
                    <a:lnB w="6350" cmpd="sng">
                      <a:solidFill>
                        <a:srgbClr val="DDE2EA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wrap="square" lIns="133350" tIns="85725" rIns="114300" bIns="85725">
                      <a:noAutofit/>
                    </a:bodyPr>
                    <a:lstStyle/>
                    <a:p>
                      <a:pPr marL="0" indent="0">
                        <a:lnSpc>
                          <a:spcPct val="103000"/>
                        </a:lnSpc>
                        <a:buNone/>
                      </a:pPr>
                      <a:r>
                        <a:rPr sz="1500" b="0">
                          <a:solidFill>
                            <a:srgbClr val="10254A"/>
                          </a:solidFill>
                          <a:latin typeface="Segoe UI"/>
                          <a:ea typeface="Segoe UI"/>
                          <a:cs typeface="Segoe UI"/>
                        </a:rPr>
                        <a:t>The list keeps accounts in order; the index finds one directly.</a:t>
                      </a:r>
                      <a:endParaRPr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1600" marR="101600" marT="63500" marB="63500" anchor="ctr">
                    <a:lnL w="6350" cmpd="sng">
                      <a:solidFill>
                        <a:srgbClr val="DDE2EA"/>
                      </a:solidFill>
                      <a:prstDash val="solid"/>
                    </a:lnL>
                    <a:lnR w="6350" cmpd="sng">
                      <a:solidFill>
                        <a:srgbClr val="DDE2EA"/>
                      </a:solidFill>
                      <a:prstDash val="solid"/>
                    </a:lnR>
                    <a:lnT w="6350" cmpd="sng">
                      <a:solidFill>
                        <a:srgbClr val="DDE2EA"/>
                      </a:solidFill>
                      <a:prstDash val="solid"/>
                    </a:lnT>
                    <a:lnB w="6350" cmpd="sng">
                      <a:solidFill>
                        <a:srgbClr val="DDE2EA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</a:tr>
              <a:tr h="714375">
                <a:tc>
                  <a:txBody>
                    <a:bodyPr wrap="square" lIns="133350" tIns="85725" rIns="114300" bIns="85725">
                      <a:noAutofit/>
                    </a:bodyPr>
                    <a:lstStyle/>
                    <a:p>
                      <a:pPr marL="0" indent="0">
                        <a:lnSpc>
                          <a:spcPct val="103000"/>
                        </a:lnSpc>
                        <a:buNone/>
                      </a:pPr>
                      <a:r>
                        <a:rPr sz="1500" b="0">
                          <a:solidFill>
                            <a:srgbClr val="10254A"/>
                          </a:solidFill>
                          <a:latin typeface="Segoe UI"/>
                          <a:ea typeface="Segoe UI"/>
                          <a:cs typeface="Segoe UI"/>
                        </a:rPr>
                        <a:t>What else might they like?</a:t>
                      </a:r>
                      <a:endParaRPr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1600" marR="101600" marT="63500" marB="63500" anchor="ctr">
                    <a:lnL w="6350" cmpd="sng">
                      <a:solidFill>
                        <a:srgbClr val="DDE2EA"/>
                      </a:solidFill>
                      <a:prstDash val="solid"/>
                    </a:lnL>
                    <a:lnR w="6350" cmpd="sng">
                      <a:solidFill>
                        <a:srgbClr val="DDE2EA"/>
                      </a:solidFill>
                      <a:prstDash val="solid"/>
                    </a:lnR>
                    <a:lnT w="6350" cmpd="sng">
                      <a:solidFill>
                        <a:srgbClr val="DDE2EA"/>
                      </a:solidFill>
                      <a:prstDash val="solid"/>
                    </a:lnT>
                    <a:lnB w="6350" cmpd="sng">
                      <a:solidFill>
                        <a:srgbClr val="DDE2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85725" rIns="114300" bIns="85725">
                      <a:noAutofit/>
                    </a:bodyPr>
                    <a:lstStyle/>
                    <a:p>
                      <a:pPr marL="0" indent="0">
                        <a:lnSpc>
                          <a:spcPct val="103000"/>
                        </a:lnSpc>
                        <a:buNone/>
                      </a:pPr>
                      <a:r>
                        <a:rPr sz="1500" b="1">
                          <a:solidFill>
                            <a:srgbClr val="10254A"/>
                          </a:solidFill>
                          <a:latin typeface="Segoe UI"/>
                          <a:ea typeface="Segoe UI"/>
                          <a:cs typeface="Segoe UI"/>
                        </a:rPr>
                        <a:t>Co-borrowing graph</a:t>
                      </a:r>
                      <a:endParaRPr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1600" marR="101600" marT="63500" marB="63500" anchor="ctr">
                    <a:lnL w="6350" cmpd="sng">
                      <a:solidFill>
                        <a:srgbClr val="DDE2EA"/>
                      </a:solidFill>
                      <a:prstDash val="solid"/>
                    </a:lnL>
                    <a:lnR w="6350" cmpd="sng">
                      <a:solidFill>
                        <a:srgbClr val="DDE2EA"/>
                      </a:solidFill>
                      <a:prstDash val="solid"/>
                    </a:lnR>
                    <a:lnT w="6350" cmpd="sng">
                      <a:solidFill>
                        <a:srgbClr val="DDE2EA"/>
                      </a:solidFill>
                      <a:prstDash val="solid"/>
                    </a:lnT>
                    <a:lnB w="6350" cmpd="sng">
                      <a:solidFill>
                        <a:srgbClr val="DDE2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85725" rIns="114300" bIns="85725">
                      <a:noAutofit/>
                    </a:bodyPr>
                    <a:lstStyle/>
                    <a:p>
                      <a:pPr marL="0" indent="0">
                        <a:lnSpc>
                          <a:spcPct val="103000"/>
                        </a:lnSpc>
                        <a:buNone/>
                      </a:pPr>
                      <a:r>
                        <a:rPr sz="1500" b="0">
                          <a:solidFill>
                            <a:srgbClr val="10254A"/>
                          </a:solidFill>
                          <a:latin typeface="Segoe UI"/>
                          <a:ea typeface="Segoe UI"/>
                          <a:cs typeface="Segoe UI"/>
                        </a:rPr>
                        <a:t>Weighted connections capture titles borrowed together.</a:t>
                      </a:r>
                      <a:endParaRPr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1600" marR="101600" marT="63500" marB="63500" anchor="ctr">
                    <a:lnL w="6350" cmpd="sng">
                      <a:solidFill>
                        <a:srgbClr val="DDE2EA"/>
                      </a:solidFill>
                      <a:prstDash val="solid"/>
                    </a:lnL>
                    <a:lnR w="6350" cmpd="sng">
                      <a:solidFill>
                        <a:srgbClr val="DDE2EA"/>
                      </a:solidFill>
                      <a:prstDash val="solid"/>
                    </a:lnR>
                    <a:lnT w="6350" cmpd="sng">
                      <a:solidFill>
                        <a:srgbClr val="DDE2EA"/>
                      </a:solidFill>
                      <a:prstDash val="solid"/>
                    </a:lnT>
                    <a:lnB w="6350" cmpd="sng">
                      <a:solidFill>
                        <a:srgbClr val="DDE2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 wrap="square" lIns="133350" tIns="85725" rIns="114300" bIns="85725">
                      <a:noAutofit/>
                    </a:bodyPr>
                    <a:lstStyle/>
                    <a:p>
                      <a:pPr marL="0" indent="0">
                        <a:lnSpc>
                          <a:spcPct val="103000"/>
                        </a:lnSpc>
                        <a:buNone/>
                      </a:pPr>
                      <a:r>
                        <a:rPr sz="1500" b="0">
                          <a:solidFill>
                            <a:srgbClr val="10254A"/>
                          </a:solidFill>
                          <a:latin typeface="Segoe UI"/>
                          <a:ea typeface="Segoe UI"/>
                          <a:cs typeface="Segoe UI"/>
                        </a:rPr>
                        <a:t>Which suggestion is best?</a:t>
                      </a:r>
                      <a:endParaRPr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1600" marR="101600" marT="63500" marB="63500" anchor="ctr">
                    <a:lnL w="6350" cmpd="sng">
                      <a:solidFill>
                        <a:srgbClr val="DDE2EA"/>
                      </a:solidFill>
                      <a:prstDash val="solid"/>
                    </a:lnL>
                    <a:lnR w="6350" cmpd="sng">
                      <a:solidFill>
                        <a:srgbClr val="DDE2EA"/>
                      </a:solidFill>
                      <a:prstDash val="solid"/>
                    </a:lnR>
                    <a:lnT w="6350" cmpd="sng">
                      <a:solidFill>
                        <a:srgbClr val="DDE2EA"/>
                      </a:solidFill>
                      <a:prstDash val="solid"/>
                    </a:lnT>
                    <a:lnB w="6350" cmpd="sng">
                      <a:solidFill>
                        <a:srgbClr val="DDE2EA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wrap="square" lIns="133350" tIns="85725" rIns="114300" bIns="85725">
                      <a:noAutofit/>
                    </a:bodyPr>
                    <a:lstStyle/>
                    <a:p>
                      <a:pPr marL="0" indent="0">
                        <a:lnSpc>
                          <a:spcPct val="103000"/>
                        </a:lnSpc>
                        <a:buNone/>
                      </a:pPr>
                      <a:r>
                        <a:rPr sz="1500" b="1">
                          <a:solidFill>
                            <a:srgbClr val="10254A"/>
                          </a:solidFill>
                          <a:latin typeface="Segoe UI"/>
                          <a:ea typeface="Segoe UI"/>
                          <a:cs typeface="Segoe UI"/>
                        </a:rPr>
                        <a:t>Tree of scores</a:t>
                      </a:r>
                      <a:endParaRPr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1600" marR="101600" marT="63500" marB="63500" anchor="ctr">
                    <a:lnL w="6350" cmpd="sng">
                      <a:solidFill>
                        <a:srgbClr val="DDE2EA"/>
                      </a:solidFill>
                      <a:prstDash val="solid"/>
                    </a:lnL>
                    <a:lnR w="6350" cmpd="sng">
                      <a:solidFill>
                        <a:srgbClr val="DDE2EA"/>
                      </a:solidFill>
                      <a:prstDash val="solid"/>
                    </a:lnR>
                    <a:lnT w="6350" cmpd="sng">
                      <a:solidFill>
                        <a:srgbClr val="DDE2EA"/>
                      </a:solidFill>
                      <a:prstDash val="solid"/>
                    </a:lnT>
                    <a:lnB w="6350" cmpd="sng">
                      <a:solidFill>
                        <a:srgbClr val="DDE2EA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wrap="square" lIns="133350" tIns="85725" rIns="114300" bIns="85725">
                      <a:noAutofit/>
                    </a:bodyPr>
                    <a:lstStyle/>
                    <a:p>
                      <a:pPr marL="0" indent="0">
                        <a:lnSpc>
                          <a:spcPct val="103000"/>
                        </a:lnSpc>
                        <a:buNone/>
                      </a:pPr>
                      <a:r>
                        <a:rPr sz="1500" b="0">
                          <a:solidFill>
                            <a:srgbClr val="10254A"/>
                          </a:solidFill>
                          <a:latin typeface="Segoe UI"/>
                          <a:ea typeface="Segoe UI"/>
                          <a:cs typeface="Segoe UI"/>
                        </a:rPr>
                        <a:t>A reverse in-order traversal ranks candidates by score.</a:t>
                      </a:r>
                      <a:endParaRPr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1600" marR="101600" marT="63500" marB="63500" anchor="ctr">
                    <a:lnL w="6350" cmpd="sng">
                      <a:solidFill>
                        <a:srgbClr val="DDE2EA"/>
                      </a:solidFill>
                      <a:prstDash val="solid"/>
                    </a:lnL>
                    <a:lnR w="6350" cmpd="sng">
                      <a:solidFill>
                        <a:srgbClr val="DDE2EA"/>
                      </a:solidFill>
                      <a:prstDash val="solid"/>
                    </a:lnR>
                    <a:lnT w="6350" cmpd="sng">
                      <a:solidFill>
                        <a:srgbClr val="DDE2EA"/>
                      </a:solidFill>
                      <a:prstDash val="solid"/>
                    </a:lnT>
                    <a:lnB w="6350" cmpd="sng">
                      <a:solidFill>
                        <a:srgbClr val="DDE2EA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976F0E3A-5039-48A2-B4D1-D9157836C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76950"/>
            <a:ext cx="1066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 i="0">
                <a:solidFill>
                  <a:srgbClr val="6B7280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1350" b="0" i="0">
                <a:solidFill>
                  <a:srgbClr val="6B7280"/>
                </a:solidFill>
                <a:latin typeface="Segoe UI"/>
                <a:ea typeface="Segoe UI"/>
                <a:cs typeface="Segoe UI"/>
              </a:defRPr>
            </a:pPr>
            <a:r>
              <a:rPr sz="1350" b="0" i="0">
                <a:solidFill>
                  <a:srgbClr val="6B7280"/>
                </a:solidFill>
                <a:latin typeface="Segoe UI"/>
                <a:ea typeface="Segoe UI"/>
                <a:cs typeface="Segoe UI"/>
              </a:rPr>
              <a:t>Each structure supports a specific operation; no single structure does every job well.</a:t>
            </a:r>
            <a:endParaRPr sz="1300"/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1B9123-E015-4AD5-863E-9A82D1BD3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72250"/>
            <a:ext cx="9906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75" b="0">
                <a:solidFill>
                  <a:srgbClr val="6B7280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r">
              <a:lnSpc>
                <a:spcPct val="107000"/>
              </a:lnSpc>
              <a:buNone/>
              <a:defRPr sz="975" b="0">
                <a:solidFill>
                  <a:srgbClr val="6B7280"/>
                </a:solidFill>
                <a:latin typeface="Segoe UI"/>
                <a:ea typeface="Segoe UI"/>
                <a:cs typeface="Segoe UI"/>
              </a:defRPr>
            </a:pPr>
            <a:r>
              <a:rPr sz="975" b="0">
                <a:solidFill>
                  <a:srgbClr val="6B7280"/>
                </a:solidFill>
                <a:latin typeface="Segoe UI"/>
                <a:ea typeface="Segoe UI"/>
                <a:cs typeface="Segoe UI"/>
              </a:rPr>
              <a:t>05 / 08</a:t>
            </a:r>
          </a:p>
        </p:txBody>
      </p:sp>
    </p:spTree>
    <p:extLst>
      <p:ext uri="{BB962C8B-B14F-4D97-AF65-F5344CB8AC3E}">
        <p14:creationId xmlns:p14="http://schemas.microsoft.com/office/powerpoint/2010/main" val="71290477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5796B3E-134A-42CA-80A5-2A9EAD7A5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3875"/>
            <a:ext cx="11087100" cy="628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3450" b="1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pPr>
            <a:r>
              <a:rPr sz="3450" b="1" i="0">
                <a:solidFill>
                  <a:srgbClr val="10254A"/>
                </a:solidFill>
                <a:latin typeface="Segoe UI"/>
                <a:ea typeface="Segoe UI"/>
                <a:cs typeface="Segoe UI"/>
              </a:rPr>
              <a:t>Two bugs. One shared lesson.</a:t>
            </a:r>
            <a:endParaRPr sz="3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737F53E-5339-4EA3-8F2F-08DAB45C2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81100"/>
            <a:ext cx="1104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 i="0">
                <a:solidFill>
                  <a:srgbClr val="6B7280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1575" b="0" i="0">
                <a:solidFill>
                  <a:srgbClr val="6B7280"/>
                </a:solidFill>
                <a:latin typeface="Segoe UI"/>
                <a:ea typeface="Segoe UI"/>
                <a:cs typeface="Segoe UI"/>
              </a:defRPr>
            </a:pPr>
            <a:r>
              <a:rPr sz="1575" b="0" i="0">
                <a:solidFill>
                  <a:srgbClr val="6B7280"/>
                </a:solidFill>
                <a:latin typeface="Segoe UI"/>
                <a:ea typeface="Segoe UI"/>
                <a:cs typeface="Segoe UI"/>
              </a:rPr>
              <a:t>Both passed the original 60 checks: related structures must agree.</a:t>
            </a:r>
            <a:endParaRPr sz="14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25FC0EB-6D55-4966-A59D-68D4021CC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38750" cy="3695700"/>
          </a:xfrm>
          <a:prstGeom xmlns:a="http://schemas.openxmlformats.org/drawingml/2006/main" prst="rect">
            <a:avLst>
              <a:gd name="adj" fmla="val 3226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0">
            <a:noFill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177F6B56-17D6-48D6-8CBD-93BB7603E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0275"/>
            <a:ext cx="4819650" cy="4476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2100" b="1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pPr>
            <a:r>
              <a:rPr sz="2100" b="1" i="0">
                <a:solidFill>
                  <a:srgbClr val="10254A"/>
                </a:solidFill>
                <a:latin typeface="Segoe UI"/>
                <a:ea typeface="Segoe UI"/>
                <a:cs typeface="Segoe UI"/>
              </a:rPr>
              <a:t>01  Phantom overdue notice</a:t>
            </a:r>
            <a:endParaRPr sz="16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E7B48A80-D1C7-4756-BC94-B9531E821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81300"/>
            <a:ext cx="4743450" cy="628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1875" b="0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pPr>
            <a:r>
              <a:rPr sz="1875" b="0" i="0">
                <a:solidFill>
                  <a:srgbClr val="10254A"/>
                </a:solidFill>
                <a:latin typeface="Segoe UI"/>
                <a:ea typeface="Segoe UI"/>
                <a:cs typeface="Segoe UI"/>
              </a:rPr>
              <a:t>Two copies. One overwritten loan ID.</a:t>
            </a:r>
            <a:endParaRPr sz="13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E1B24011-1AA1-4EDA-90D4-DB0F14EBC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19500"/>
            <a:ext cx="4695825" cy="1790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1725" b="0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pPr>
            <a:r>
              <a:rPr sz="1725" b="0" i="0">
                <a:solidFill>
                  <a:srgbClr val="10254A"/>
                </a:solidFill>
                <a:latin typeface="Segoe UI"/>
                <a:ea typeface="Segoe UI"/>
                <a:cs typeface="Segoe UI"/>
              </a:rPr>
              <a:t>The lookup lost a loan that the heap still held.</a:t>
            </a:r>
            <a:endParaRPr sz="1250"/>
          </a:p>
          <a:p xmlns:a="http://schemas.openxmlformats.org/drawingml/2006/main">
            <a:pPr marL="0" indent="0">
              <a:buNone/>
              <a:defRPr>
                <a:latin typeface="Segoe UI"/>
                <a:ea typeface="Segoe UI"/>
                <a:cs typeface="Segoe UI"/>
              </a:defRPr>
            </a:pPr>
            <a:r>
              <a:rPr sz="1250">
                <a:solidFill>
                  <a:srgbClr val="111111"/>
                </a:solidFill>
                <a:latin typeface="Segoe UI"/>
                <a:ea typeface="Segoe UI"/>
                <a:cs typeface="Segoe UI"/>
              </a:rPr>
              <a:t/>
            </a:r>
            <a:endParaRPr sz="1250"/>
          </a:p>
          <a:p xmlns:a="http://schemas.openxmlformats.org/drawingml/2006/main">
            <a:pPr marL="0" indent="0" algn="l">
              <a:lnSpc>
                <a:spcPct val="107000"/>
              </a:lnSpc>
              <a:buNone/>
              <a:defRPr sz="1725" b="0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pPr>
            <a:r>
              <a:rPr sz="1725" b="0" i="0">
                <a:solidFill>
                  <a:srgbClr val="10254A"/>
                </a:solidFill>
                <a:latin typeface="Segoe UI"/>
                <a:ea typeface="Segoe UI"/>
                <a:cs typeface="Segoe UI"/>
              </a:rPr>
              <a:t>Fix: keep all outstanding loan IDs and clear the oldest first.</a:t>
            </a:r>
            <a:endParaRPr sz="125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B3C9CEA4-78E2-495C-9F32-9AFE11ECC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943100"/>
            <a:ext cx="5562600" cy="3695700"/>
          </a:xfrm>
          <a:prstGeom xmlns:a="http://schemas.openxmlformats.org/drawingml/2006/main" prst="rect">
            <a:avLst>
              <a:gd name="adj" fmla="val 3226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0">
            <a:noFill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7023916F-4059-4F55-AC56-AAB17D9F9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200275"/>
            <a:ext cx="5114925" cy="4476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2100" b="1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pPr>
            <a:r>
              <a:rPr sz="2100" b="1" i="0">
                <a:solidFill>
                  <a:srgbClr val="10254A"/>
                </a:solidFill>
                <a:latin typeface="Segoe UI"/>
                <a:ea typeface="Segoe UI"/>
                <a:cs typeface="Segoe UI"/>
              </a:rPr>
              <a:t>02  One-way connections</a:t>
            </a:r>
            <a:endParaRPr sz="16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2D3B65E1-E479-4596-B135-AFDCB6571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781300"/>
            <a:ext cx="495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1875" b="0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pPr>
            <a:r>
              <a:rPr sz="1875" b="0" i="0">
                <a:solidFill>
                  <a:srgbClr val="10254A"/>
                </a:solidFill>
                <a:latin typeface="Segoe UI"/>
                <a:ea typeface="Segoe UI"/>
                <a:cs typeface="Segoe UI"/>
              </a:rPr>
              <a:t>One graph edge. Only one end removed.</a:t>
            </a:r>
            <a:endParaRPr sz="13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5380005E-4575-4EC0-9EE5-2D08ADD7D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619500"/>
            <a:ext cx="5019675" cy="1790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1725" b="0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pPr>
            <a:r>
              <a:rPr sz="1725" b="0" i="0">
                <a:solidFill>
                  <a:srgbClr val="10254A"/>
                </a:solidFill>
                <a:latin typeface="Segoe UI"/>
                <a:ea typeface="Segoe UI"/>
                <a:cs typeface="Segoe UI"/>
              </a:rPr>
              <a:t>Trimming the 50-neighbour cap left the opposite connection behind.</a:t>
            </a:r>
            <a:endParaRPr sz="1250"/>
          </a:p>
          <a:p xmlns:a="http://schemas.openxmlformats.org/drawingml/2006/main">
            <a:pPr marL="0" indent="0">
              <a:buNone/>
              <a:defRPr>
                <a:latin typeface="Segoe UI"/>
                <a:ea typeface="Segoe UI"/>
                <a:cs typeface="Segoe UI"/>
              </a:defRPr>
            </a:pPr>
            <a:r>
              <a:rPr sz="1250">
                <a:solidFill>
                  <a:srgbClr val="111111"/>
                </a:solidFill>
                <a:latin typeface="Segoe UI"/>
                <a:ea typeface="Segoe UI"/>
                <a:cs typeface="Segoe UI"/>
              </a:rPr>
              <a:t/>
            </a:r>
            <a:endParaRPr sz="1250"/>
          </a:p>
          <a:p xmlns:a="http://schemas.openxmlformats.org/drawingml/2006/main">
            <a:pPr marL="0" indent="0" algn="l">
              <a:lnSpc>
                <a:spcPct val="107000"/>
              </a:lnSpc>
              <a:buNone/>
              <a:defRPr sz="1725" b="0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pPr>
            <a:r>
              <a:rPr sz="1725" b="0" i="0">
                <a:solidFill>
                  <a:srgbClr val="10254A"/>
                </a:solidFill>
                <a:latin typeface="Segoe UI"/>
                <a:ea typeface="Segoe UI"/>
                <a:cs typeface="Segoe UI"/>
              </a:rPr>
              <a:t>Fix: remove both halves of the edge.</a:t>
            </a:r>
            <a:endParaRPr sz="125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39421CEE-4DD4-48D0-9204-6DC82478F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76950"/>
            <a:ext cx="1066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 i="0">
                <a:solidFill>
                  <a:srgbClr val="6B7280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1350" b="0" i="0">
                <a:solidFill>
                  <a:srgbClr val="6B7280"/>
                </a:solidFill>
                <a:latin typeface="Segoe UI"/>
                <a:ea typeface="Segoe UI"/>
                <a:cs typeface="Segoe UI"/>
              </a:defRPr>
            </a:pPr>
            <a:r>
              <a:rPr sz="1350" b="0" i="0">
                <a:solidFill>
                  <a:srgbClr val="6B7280"/>
                </a:solidFill>
                <a:latin typeface="Segoe UI"/>
                <a:ea typeface="Segoe UI"/>
                <a:cs typeface="Segoe UI"/>
              </a:rPr>
              <a:t>Regression tests now cover both failures. Final suite: 304 checks.</a:t>
            </a:r>
            <a:endParaRPr sz="1350"/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7B3A8A-483C-46DE-9C98-EDCF44F83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72250"/>
            <a:ext cx="9906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75" b="0">
                <a:solidFill>
                  <a:srgbClr val="6B7280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r">
              <a:lnSpc>
                <a:spcPct val="107000"/>
              </a:lnSpc>
              <a:buNone/>
              <a:defRPr sz="975" b="0">
                <a:solidFill>
                  <a:srgbClr val="6B7280"/>
                </a:solidFill>
                <a:latin typeface="Segoe UI"/>
                <a:ea typeface="Segoe UI"/>
                <a:cs typeface="Segoe UI"/>
              </a:defRPr>
            </a:pPr>
            <a:r>
              <a:rPr sz="975" b="0">
                <a:solidFill>
                  <a:srgbClr val="6B7280"/>
                </a:solidFill>
                <a:latin typeface="Segoe UI"/>
                <a:ea typeface="Segoe UI"/>
                <a:cs typeface="Segoe UI"/>
              </a:rPr>
              <a:t>06 / 08</a:t>
            </a:r>
          </a:p>
        </p:txBody>
      </p:sp>
    </p:spTree>
    <p:extLst>
      <p:ext uri="{BB962C8B-B14F-4D97-AF65-F5344CB8AC3E}">
        <p14:creationId xmlns:p14="http://schemas.microsoft.com/office/powerpoint/2010/main" val="34835419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0254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33A6679-B2B1-4501-AC0D-1830EAFE9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3875"/>
            <a:ext cx="11087100" cy="628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 i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3450" b="1" i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345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What a next version needs</a:t>
            </a:r>
            <a:endParaRPr sz="3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C950555-BD0F-4144-8EA9-F61A5E47A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81100"/>
            <a:ext cx="1104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 i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1575" b="0" i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575" b="0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 coursework prototype with clear boundaries.</a:t>
            </a:r>
            <a:endParaRPr sz="14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035004EF-ACF1-411F-9C29-428DD6CA9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57375"/>
            <a:ext cx="381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227"/>
          </a:solidFill>
          <a:ln xmlns:a="http://schemas.openxmlformats.org/drawingml/2006/main" w="0">
            <a:noFill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612DBC16-590B-43B7-BD15-E85574C77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1857375"/>
            <a:ext cx="5000625" cy="3905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 i="0">
                <a:solidFill>
                  <a:srgbClr val="C9A227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2100" b="1" i="0">
                <a:solidFill>
                  <a:srgbClr val="C9A227"/>
                </a:solidFill>
                <a:latin typeface="Segoe UI"/>
                <a:ea typeface="Segoe UI"/>
                <a:cs typeface="Segoe UI"/>
              </a:defRPr>
            </a:pPr>
            <a:r>
              <a:rPr sz="2100" b="1" i="0">
                <a:solidFill>
                  <a:srgbClr val="C9A227"/>
                </a:solidFill>
                <a:latin typeface="Segoe UI"/>
                <a:ea typeface="Segoe UI"/>
                <a:cs typeface="Segoe UI"/>
              </a:rPr>
              <a:t>Persistent storage</a:t>
            </a:r>
            <a:endParaRPr sz="15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23BCD8DC-95F5-40DD-88DA-67B1507A6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276475"/>
            <a:ext cx="5000625" cy="438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 i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1500" b="0" i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500" b="0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All working state is held in memory.</a:t>
            </a:r>
            <a:endParaRPr sz="12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E5295D30-0FA8-4FAB-A21E-2923D7FD8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914525"/>
            <a:ext cx="5000625" cy="8096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 i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1800" b="0" i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800" b="0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Save on exit; reload on startup.</a:t>
            </a:r>
            <a:endParaRPr sz="130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11678545-14B2-4245-AAD9-4B5616F20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38450"/>
            <a:ext cx="381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227"/>
          </a:solidFill>
          <a:ln xmlns:a="http://schemas.openxmlformats.org/drawingml/2006/main" w="0">
            <a:noFill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E29EDC38-1284-4360-BF97-8C72B9E80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838450"/>
            <a:ext cx="5000625" cy="3905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 i="0">
                <a:solidFill>
                  <a:srgbClr val="C9A227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2100" b="1" i="0">
                <a:solidFill>
                  <a:srgbClr val="C9A227"/>
                </a:solidFill>
                <a:latin typeface="Segoe UI"/>
                <a:ea typeface="Segoe UI"/>
                <a:cs typeface="Segoe UI"/>
              </a:defRPr>
            </a:pPr>
            <a:r>
              <a:rPr sz="2100" b="1" i="0">
                <a:solidFill>
                  <a:srgbClr val="C9A227"/>
                </a:solidFill>
                <a:latin typeface="Segoe UI"/>
                <a:ea typeface="Segoe UI"/>
                <a:cs typeface="Segoe UI"/>
              </a:rPr>
              <a:t>Concurrent access</a:t>
            </a:r>
            <a:endParaRPr sz="15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D287DFE0-8312-4220-B6B3-AE8E5653E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257550"/>
            <a:ext cx="5000625" cy="438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 i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1500" b="0" i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500" b="0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The application handles one user at a time.</a:t>
            </a:r>
            <a:endParaRPr sz="12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99253A6B-DBF8-40E1-AAE8-54D7B34DC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895600"/>
            <a:ext cx="5000625" cy="8096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 i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1800" b="0" i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800" b="0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Coordinate locks across inventory, loans, accounts, and holds.</a:t>
            </a:r>
            <a:endParaRPr sz="130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332F7759-B4A3-4265-BED0-4905C7605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9525"/>
            <a:ext cx="381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227"/>
          </a:solidFill>
          <a:ln xmlns:a="http://schemas.openxmlformats.org/drawingml/2006/main" w="0">
            <a:noFill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30AC408C-B9B6-46F3-9E19-DCB270016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819525"/>
            <a:ext cx="5000625" cy="3905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 i="0">
                <a:solidFill>
                  <a:srgbClr val="C9A227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2100" b="1" i="0">
                <a:solidFill>
                  <a:srgbClr val="C9A227"/>
                </a:solidFill>
                <a:latin typeface="Segoe UI"/>
                <a:ea typeface="Segoe UI"/>
                <a:cs typeface="Segoe UI"/>
              </a:defRPr>
            </a:pPr>
            <a:r>
              <a:rPr sz="2100" b="1" i="0">
                <a:solidFill>
                  <a:srgbClr val="C9A227"/>
                </a:solidFill>
                <a:latin typeface="Segoe UI"/>
                <a:ea typeface="Segoe UI"/>
                <a:cs typeface="Segoe UI"/>
              </a:rPr>
              <a:t>Fines and renewals</a:t>
            </a:r>
            <a:endParaRPr sz="15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7786AB2F-6701-46CA-A96F-5D1C48BD7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238625"/>
            <a:ext cx="5000625" cy="438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 i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1500" b="0" i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500" b="0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Designed in Module 2; not implemented.</a:t>
            </a:r>
            <a:endParaRPr sz="12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D6EC379A-B0E4-418F-8C63-9588C8BB5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876675"/>
            <a:ext cx="5000625" cy="8096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 i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1800" b="0" i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800" b="0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Add balance handling and due-date changes.</a:t>
            </a:r>
            <a:endParaRPr sz="130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343C3541-B52E-4C72-A843-5A327499A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00600"/>
            <a:ext cx="381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227"/>
          </a:solidFill>
          <a:ln xmlns:a="http://schemas.openxmlformats.org/drawingml/2006/main" w="0">
            <a:noFill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70F4DFB5-9194-4D23-9D27-8ABBFA88F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800600"/>
            <a:ext cx="5000625" cy="3905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 i="0">
                <a:solidFill>
                  <a:srgbClr val="C9A227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2100" b="1" i="0">
                <a:solidFill>
                  <a:srgbClr val="C9A227"/>
                </a:solidFill>
                <a:latin typeface="Segoe UI"/>
                <a:ea typeface="Segoe UI"/>
                <a:cs typeface="Segoe UI"/>
              </a:defRPr>
            </a:pPr>
            <a:r>
              <a:rPr sz="2100" b="1" i="0">
                <a:solidFill>
                  <a:srgbClr val="C9A227"/>
                </a:solidFill>
                <a:latin typeface="Segoe UI"/>
                <a:ea typeface="Segoe UI"/>
                <a:cs typeface="Segoe UI"/>
              </a:rPr>
              <a:t>Sign-in safeguards</a:t>
            </a:r>
            <a:endParaRPr sz="15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13D8B6DE-ABAB-4F18-A51F-5824F6374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219700"/>
            <a:ext cx="5000625" cy="438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 i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1500" b="0" i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500" b="0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No lockout, recovery, or session timeout.</a:t>
            </a:r>
            <a:endParaRPr sz="12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66A2AE24-5DB4-4A88-BED4-2EDE41DEA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857750"/>
            <a:ext cx="5000625" cy="8096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 i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1800" b="0" i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800" b="0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Add throttling, recovery, and timeout controls.</a:t>
            </a:r>
            <a:endParaRPr sz="13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D453B1E7-B7CF-4491-9369-1C5B06E25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76950"/>
            <a:ext cx="1066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 i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1350" b="0" i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350" b="0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The technical report explains the work needed to close each gap.</a:t>
            </a:r>
            <a:endParaRPr sz="1300"/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892832D-AFC8-4A0E-8426-CCF7DFFE7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72250"/>
            <a:ext cx="9906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75" b="0">
                <a:solidFill>
                  <a:srgbClr val="C9A227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r">
              <a:lnSpc>
                <a:spcPct val="107000"/>
              </a:lnSpc>
              <a:buNone/>
              <a:defRPr sz="975" b="0">
                <a:solidFill>
                  <a:srgbClr val="C9A227"/>
                </a:solidFill>
                <a:latin typeface="Segoe UI"/>
                <a:ea typeface="Segoe UI"/>
                <a:cs typeface="Segoe UI"/>
              </a:defRPr>
            </a:pPr>
            <a:r>
              <a:rPr sz="975" b="0">
                <a:solidFill>
                  <a:srgbClr val="C9A227"/>
                </a:solidFill>
                <a:latin typeface="Segoe UI"/>
                <a:ea typeface="Segoe UI"/>
                <a:cs typeface="Segoe UI"/>
              </a:rPr>
              <a:t>07 / 08</a:t>
            </a:r>
          </a:p>
        </p:txBody>
      </p:sp>
    </p:spTree>
    <p:extLst>
      <p:ext uri="{BB962C8B-B14F-4D97-AF65-F5344CB8AC3E}">
        <p14:creationId xmlns:p14="http://schemas.microsoft.com/office/powerpoint/2010/main" val="56843295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A3189F6-27C0-4EB1-A79E-1BDD58F49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3875"/>
            <a:ext cx="11087100" cy="628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3450" b="1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pPr>
            <a:r>
              <a:rPr sz="3450" b="1" i="0">
                <a:solidFill>
                  <a:srgbClr val="10254A"/>
                </a:solidFill>
                <a:latin typeface="Segoe UI"/>
                <a:ea typeface="Segoe UI"/>
                <a:cs typeface="Segoe UI"/>
              </a:rPr>
              <a:t>Nine modules to a working system</a:t>
            </a:r>
            <a:endParaRPr sz="3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32E48FA-0D09-40B1-AD7D-F36C585CF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81100"/>
            <a:ext cx="1104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 i="0">
                <a:solidFill>
                  <a:srgbClr val="6B7280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1575" b="0" i="0">
                <a:solidFill>
                  <a:srgbClr val="6B7280"/>
                </a:solidFill>
                <a:latin typeface="Segoe UI"/>
                <a:ea typeface="Segoe UI"/>
                <a:cs typeface="Segoe UI"/>
              </a:defRPr>
            </a:pPr>
            <a:r>
              <a:rPr sz="1575" b="0" i="0">
                <a:solidFill>
                  <a:srgbClr val="6B7280"/>
                </a:solidFill>
                <a:latin typeface="Segoe UI"/>
                <a:ea typeface="Segoe UI"/>
                <a:cs typeface="Segoe UI"/>
              </a:rPr>
              <a:t>From requirements and design to a tested, documented project.</a:t>
            </a:r>
            <a:endParaRPr sz="14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04C4640-A123-4555-B087-3125B3D4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33625"/>
            <a:ext cx="11049000" cy="9525"/>
          </a:xfrm>
          <a:prstGeom xmlns:a="http://schemas.openxmlformats.org/drawingml/2006/main" prst="rect">
            <a:avLst>
              <a:gd name="adj" fmla="val 8333"/>
            </a:avLst>
          </a:prstGeom>
          <a:solidFill xmlns:a="http://schemas.openxmlformats.org/drawingml/2006/main">
            <a:srgbClr val="DDE2EA"/>
          </a:solidFill>
          <a:ln xmlns:a="http://schemas.openxmlformats.org/drawingml/2006/main" w="0">
            <a:noFill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616FE228-C3F5-4462-938A-D308CA081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47850"/>
            <a:ext cx="742950" cy="3714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 i="0">
                <a:solidFill>
                  <a:srgbClr val="C9A227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1800" b="1" i="0">
                <a:solidFill>
                  <a:srgbClr val="C9A227"/>
                </a:solidFill>
                <a:latin typeface="Segoe UI"/>
                <a:ea typeface="Segoe UI"/>
                <a:cs typeface="Segoe UI"/>
              </a:defRPr>
            </a:pPr>
            <a:r>
              <a:rPr sz="1800" b="1" i="0">
                <a:solidFill>
                  <a:srgbClr val="C9A227"/>
                </a:solidFill>
                <a:latin typeface="Segoe UI"/>
                <a:ea typeface="Segoe UI"/>
                <a:cs typeface="Segoe UI"/>
              </a:rPr>
              <a:t>1–2</a:t>
            </a:r>
            <a:endParaRPr sz="14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D088BF4-EEA4-4494-B575-CB58EC722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1857375"/>
            <a:ext cx="3676650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1725" b="1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pPr>
            <a:r>
              <a:rPr sz="1725" b="1" i="0">
                <a:solidFill>
                  <a:srgbClr val="10254A"/>
                </a:solidFill>
                <a:latin typeface="Segoe UI"/>
                <a:ea typeface="Segoe UI"/>
                <a:cs typeface="Segoe UI"/>
              </a:rPr>
              <a:t>Plan and design</a:t>
            </a:r>
            <a:endParaRPr sz="145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B3A57D6-98D8-4992-BD2D-40E30EBEA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1876425"/>
            <a:ext cx="6210300" cy="4476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1500" b="0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pPr>
            <a:r>
              <a:rPr sz="1500" b="0" i="0">
                <a:solidFill>
                  <a:srgbClr val="10254A"/>
                </a:solidFill>
                <a:latin typeface="Segoe UI"/>
                <a:ea typeface="Segoe UI"/>
                <a:cs typeface="Segoe UI"/>
              </a:rPr>
              <a:t>Requirements, architecture, UML, and mock-ups.</a:t>
            </a:r>
            <a:endParaRPr sz="130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E740A6E5-B288-4242-BEAA-92CF44A21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95600"/>
            <a:ext cx="11049000" cy="9525"/>
          </a:xfrm>
          <a:prstGeom xmlns:a="http://schemas.openxmlformats.org/drawingml/2006/main" prst="rect">
            <a:avLst>
              <a:gd name="adj" fmla="val 8333"/>
            </a:avLst>
          </a:prstGeom>
          <a:solidFill xmlns:a="http://schemas.openxmlformats.org/drawingml/2006/main">
            <a:srgbClr val="DDE2EA"/>
          </a:solidFill>
          <a:ln xmlns:a="http://schemas.openxmlformats.org/drawingml/2006/main" w="0">
            <a:noFill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E6931B12-603A-4575-ACEA-616907097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9825"/>
            <a:ext cx="742950" cy="3714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 i="0">
                <a:solidFill>
                  <a:srgbClr val="C9A227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1800" b="1" i="0">
                <a:solidFill>
                  <a:srgbClr val="C9A227"/>
                </a:solidFill>
                <a:latin typeface="Segoe UI"/>
                <a:ea typeface="Segoe UI"/>
                <a:cs typeface="Segoe UI"/>
              </a:defRPr>
            </a:pPr>
            <a:r>
              <a:rPr sz="1800" b="1" i="0">
                <a:solidFill>
                  <a:srgbClr val="C9A227"/>
                </a:solidFill>
                <a:latin typeface="Segoe UI"/>
                <a:ea typeface="Segoe UI"/>
                <a:cs typeface="Segoe UI"/>
              </a:rPr>
              <a:t>3–4</a:t>
            </a:r>
            <a:endParaRPr sz="14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AF171C43-2D7F-47E7-A313-54DB1C2E6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2419350"/>
            <a:ext cx="3676650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1725" b="1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pPr>
            <a:r>
              <a:rPr sz="1725" b="1" i="0">
                <a:solidFill>
                  <a:srgbClr val="10254A"/>
                </a:solidFill>
                <a:latin typeface="Segoe UI"/>
                <a:ea typeface="Segoe UI"/>
                <a:cs typeface="Segoe UI"/>
              </a:rPr>
              <a:t>Build the foundation</a:t>
            </a:r>
            <a:endParaRPr sz="145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8DCD0511-B4E5-4CAE-84A4-710B0C3E6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438400"/>
            <a:ext cx="6210300" cy="4476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1500" b="0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pPr>
            <a:r>
              <a:rPr sz="1500" b="0" i="0">
                <a:solidFill>
                  <a:srgbClr val="10254A"/>
                </a:solidFill>
                <a:latin typeface="Segoe UI"/>
                <a:ea typeface="Segoe UI"/>
                <a:cs typeface="Segoe UI"/>
              </a:rPr>
              <a:t>Catalog, accounts, and early component tests.</a:t>
            </a:r>
            <a:endParaRPr sz="130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3716B0F1-7026-4531-A2E1-B06B94921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57575"/>
            <a:ext cx="11049000" cy="9525"/>
          </a:xfrm>
          <a:prstGeom xmlns:a="http://schemas.openxmlformats.org/drawingml/2006/main" prst="rect">
            <a:avLst>
              <a:gd name="adj" fmla="val 8333"/>
            </a:avLst>
          </a:prstGeom>
          <a:solidFill xmlns:a="http://schemas.openxmlformats.org/drawingml/2006/main">
            <a:srgbClr val="DDE2EA"/>
          </a:solidFill>
          <a:ln xmlns:a="http://schemas.openxmlformats.org/drawingml/2006/main" w="0">
            <a:noFill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A40B178F-F16C-4F5B-9E11-70112143F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71800"/>
            <a:ext cx="742950" cy="3714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 i="0">
                <a:solidFill>
                  <a:srgbClr val="C9A227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1800" b="1" i="0">
                <a:solidFill>
                  <a:srgbClr val="C9A227"/>
                </a:solidFill>
                <a:latin typeface="Segoe UI"/>
                <a:ea typeface="Segoe UI"/>
                <a:cs typeface="Segoe UI"/>
              </a:defRPr>
            </a:pPr>
            <a:r>
              <a:rPr sz="1800" b="1" i="0">
                <a:solidFill>
                  <a:srgbClr val="C9A227"/>
                </a:solidFill>
                <a:latin typeface="Segoe UI"/>
                <a:ea typeface="Segoe UI"/>
                <a:cs typeface="Segoe UI"/>
              </a:rPr>
              <a:t>5</a:t>
            </a:r>
            <a:endParaRPr sz="14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57144CC2-FFE6-4A05-AC43-AEE493D90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2981325"/>
            <a:ext cx="3676650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1725" b="1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pPr>
            <a:r>
              <a:rPr sz="1725" b="1" i="0">
                <a:solidFill>
                  <a:srgbClr val="10254A"/>
                </a:solidFill>
                <a:latin typeface="Segoe UI"/>
                <a:ea typeface="Segoe UI"/>
                <a:cs typeface="Segoe UI"/>
              </a:rPr>
              <a:t>Connect the logic</a:t>
            </a:r>
            <a:endParaRPr sz="145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748CD511-DDDD-4B49-A865-0B5BBF22B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000375"/>
            <a:ext cx="6210300" cy="4476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1500" b="0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pPr>
            <a:r>
              <a:rPr sz="1500" b="0" i="0">
                <a:solidFill>
                  <a:srgbClr val="10254A"/>
                </a:solidFill>
                <a:latin typeface="Segoe UI"/>
                <a:ea typeface="Segoe UI"/>
                <a:cs typeface="Segoe UI"/>
              </a:rPr>
              <a:t>Borrowing, deadlines, and recommendations.</a:t>
            </a:r>
            <a:endParaRPr sz="130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20B7747E-D61F-4EF5-BB32-020A210BE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19550"/>
            <a:ext cx="11049000" cy="9525"/>
          </a:xfrm>
          <a:prstGeom xmlns:a="http://schemas.openxmlformats.org/drawingml/2006/main" prst="rect">
            <a:avLst>
              <a:gd name="adj" fmla="val 8333"/>
            </a:avLst>
          </a:prstGeom>
          <a:solidFill xmlns:a="http://schemas.openxmlformats.org/drawingml/2006/main">
            <a:srgbClr val="DDE2EA"/>
          </a:solidFill>
          <a:ln xmlns:a="http://schemas.openxmlformats.org/drawingml/2006/main" w="0">
            <a:noFill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85938F1B-771A-4269-85D1-812969B0D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33775"/>
            <a:ext cx="742950" cy="3714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 i="0">
                <a:solidFill>
                  <a:srgbClr val="C9A227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1800" b="1" i="0">
                <a:solidFill>
                  <a:srgbClr val="C9A227"/>
                </a:solidFill>
                <a:latin typeface="Segoe UI"/>
                <a:ea typeface="Segoe UI"/>
                <a:cs typeface="Segoe UI"/>
              </a:defRPr>
            </a:pPr>
            <a:r>
              <a:rPr sz="1800" b="1" i="0">
                <a:solidFill>
                  <a:srgbClr val="C9A227"/>
                </a:solidFill>
                <a:latin typeface="Segoe UI"/>
                <a:ea typeface="Segoe UI"/>
                <a:cs typeface="Segoe UI"/>
              </a:rPr>
              <a:t>6</a:t>
            </a:r>
            <a:endParaRPr sz="14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7ED0F821-1F82-42DF-96CE-4D02CA1C2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3543300"/>
            <a:ext cx="3676650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1725" b="1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pPr>
            <a:r>
              <a:rPr sz="1725" b="1" i="0">
                <a:solidFill>
                  <a:srgbClr val="10254A"/>
                </a:solidFill>
                <a:latin typeface="Segoe UI"/>
                <a:ea typeface="Segoe UI"/>
                <a:cs typeface="Segoe UI"/>
              </a:rPr>
              <a:t>Find the failures</a:t>
            </a:r>
            <a:endParaRPr sz="145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230D92A2-A4E9-48D4-9FE1-13535BB6C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562350"/>
            <a:ext cx="6210300" cy="4476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1500" b="0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pPr>
            <a:r>
              <a:rPr sz="1500" b="0" i="0">
                <a:solidFill>
                  <a:srgbClr val="10254A"/>
                </a:solidFill>
                <a:latin typeface="Segoe UI"/>
                <a:ea typeface="Segoe UI"/>
                <a:cs typeface="Segoe UI"/>
              </a:rPr>
              <a:t>Two defects fixed; checks grew from 60 to 72.</a:t>
            </a:r>
            <a:endParaRPr sz="130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60366BCF-DA4B-4634-AEA4-79F50C1AA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81525"/>
            <a:ext cx="11049000" cy="9525"/>
          </a:xfrm>
          <a:prstGeom xmlns:a="http://schemas.openxmlformats.org/drawingml/2006/main" prst="rect">
            <a:avLst>
              <a:gd name="adj" fmla="val 8333"/>
            </a:avLst>
          </a:prstGeom>
          <a:solidFill xmlns:a="http://schemas.openxmlformats.org/drawingml/2006/main">
            <a:srgbClr val="DDE2EA"/>
          </a:solidFill>
          <a:ln xmlns:a="http://schemas.openxmlformats.org/drawingml/2006/main" w="0">
            <a:noFill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61622DD4-8C9B-446B-99B5-C50203695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95750"/>
            <a:ext cx="742950" cy="3714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 i="0">
                <a:solidFill>
                  <a:srgbClr val="C9A227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1800" b="1" i="0">
                <a:solidFill>
                  <a:srgbClr val="C9A227"/>
                </a:solidFill>
                <a:latin typeface="Segoe UI"/>
                <a:ea typeface="Segoe UI"/>
                <a:cs typeface="Segoe UI"/>
              </a:defRPr>
            </a:pPr>
            <a:r>
              <a:rPr sz="1800" b="1" i="0">
                <a:solidFill>
                  <a:srgbClr val="C9A227"/>
                </a:solidFill>
                <a:latin typeface="Segoe UI"/>
                <a:ea typeface="Segoe UI"/>
                <a:cs typeface="Segoe UI"/>
              </a:rPr>
              <a:t>7</a:t>
            </a:r>
            <a:endParaRPr sz="14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08A7A00D-D9CA-4611-9217-897ED3C63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4105275"/>
            <a:ext cx="3676650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1725" b="1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pPr>
            <a:r>
              <a:rPr sz="1725" b="1" i="0">
                <a:solidFill>
                  <a:srgbClr val="10254A"/>
                </a:solidFill>
                <a:latin typeface="Segoe UI"/>
                <a:ea typeface="Segoe UI"/>
                <a:cs typeface="Segoe UI"/>
              </a:rPr>
              <a:t>Document the experience</a:t>
            </a:r>
            <a:endParaRPr sz="145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35A3987E-76B9-4788-AC92-C3C48BFE9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4124325"/>
            <a:ext cx="6210300" cy="4476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1500" b="0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pPr>
            <a:r>
              <a:rPr sz="1500" b="0" i="0">
                <a:solidFill>
                  <a:srgbClr val="10254A"/>
                </a:solidFill>
                <a:latin typeface="Segoe UI"/>
                <a:ea typeface="Segoe UI"/>
                <a:cs typeface="Segoe UI"/>
              </a:rPr>
              <a:t>User guide, technical report, and interface review.</a:t>
            </a:r>
            <a:endParaRPr sz="13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8CDBA87E-345D-40D0-AD32-F670F3121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43500"/>
            <a:ext cx="11049000" cy="9525"/>
          </a:xfrm>
          <a:prstGeom xmlns:a="http://schemas.openxmlformats.org/drawingml/2006/main" prst="rect">
            <a:avLst>
              <a:gd name="adj" fmla="val 8333"/>
            </a:avLst>
          </a:prstGeom>
          <a:solidFill xmlns:a="http://schemas.openxmlformats.org/drawingml/2006/main">
            <a:srgbClr val="DDE2EA"/>
          </a:solidFill>
          <a:ln xmlns:a="http://schemas.openxmlformats.org/drawingml/2006/main" w="0">
            <a:noFill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33FDF709-C277-47A6-9F1C-F2954BA67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57725"/>
            <a:ext cx="742950" cy="3714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 i="0">
                <a:solidFill>
                  <a:srgbClr val="C9A227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1800" b="1" i="0">
                <a:solidFill>
                  <a:srgbClr val="C9A227"/>
                </a:solidFill>
                <a:latin typeface="Segoe UI"/>
                <a:ea typeface="Segoe UI"/>
                <a:cs typeface="Segoe UI"/>
              </a:defRPr>
            </a:pPr>
            <a:r>
              <a:rPr sz="1800" b="1" i="0">
                <a:solidFill>
                  <a:srgbClr val="C9A227"/>
                </a:solidFill>
                <a:latin typeface="Segoe UI"/>
                <a:ea typeface="Segoe UI"/>
                <a:cs typeface="Segoe UI"/>
              </a:rPr>
              <a:t>8</a:t>
            </a:r>
            <a:endParaRPr sz="14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CE842365-E165-4373-9D27-52D259970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4667250"/>
            <a:ext cx="3676650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1725" b="1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pPr>
            <a:r>
              <a:rPr sz="1725" b="1" i="0">
                <a:solidFill>
                  <a:srgbClr val="10254A"/>
                </a:solidFill>
                <a:latin typeface="Segoe UI"/>
                <a:ea typeface="Segoe UI"/>
                <a:cs typeface="Segoe UI"/>
              </a:rPr>
              <a:t>Prepare the demonstration</a:t>
            </a:r>
            <a:endParaRPr sz="145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50E43419-4292-48EA-90E0-FDF6378A0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4686300"/>
            <a:ext cx="6210300" cy="4476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1500" b="0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pPr>
            <a:r>
              <a:rPr sz="1500" b="0" i="0">
                <a:solidFill>
                  <a:srgbClr val="10254A"/>
                </a:solidFill>
                <a:latin typeface="Segoe UI"/>
                <a:ea typeface="Segoe UI"/>
                <a:cs typeface="Segoe UI"/>
              </a:rPr>
              <a:t>Slide deck, narration, and scripted demo.</a:t>
            </a:r>
            <a:endParaRPr sz="130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10FBD252-37CC-4E70-9278-0BE6A7AD2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05475"/>
            <a:ext cx="11049000" cy="9525"/>
          </a:xfrm>
          <a:prstGeom xmlns:a="http://schemas.openxmlformats.org/drawingml/2006/main" prst="rect">
            <a:avLst>
              <a:gd name="adj" fmla="val 8333"/>
            </a:avLst>
          </a:prstGeom>
          <a:solidFill xmlns:a="http://schemas.openxmlformats.org/drawingml/2006/main">
            <a:srgbClr val="DDE2EA"/>
          </a:solidFill>
          <a:ln xmlns:a="http://schemas.openxmlformats.org/drawingml/2006/main" w="0">
            <a:noFill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0831BC99-2D3A-4100-AAAF-484D084E3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9700"/>
            <a:ext cx="742950" cy="3714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 i="0">
                <a:solidFill>
                  <a:srgbClr val="C9A227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1800" b="1" i="0">
                <a:solidFill>
                  <a:srgbClr val="C9A227"/>
                </a:solidFill>
                <a:latin typeface="Segoe UI"/>
                <a:ea typeface="Segoe UI"/>
                <a:cs typeface="Segoe UI"/>
              </a:defRPr>
            </a:pPr>
            <a:r>
              <a:rPr sz="1800" b="1" i="0">
                <a:solidFill>
                  <a:srgbClr val="C9A227"/>
                </a:solidFill>
                <a:latin typeface="Segoe UI"/>
                <a:ea typeface="Segoe UI"/>
                <a:cs typeface="Segoe UI"/>
              </a:rPr>
              <a:t>9</a:t>
            </a:r>
            <a:endParaRPr sz="140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C894D396-C642-4F63-BF90-2DA0D6EB5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5229225"/>
            <a:ext cx="3676650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1725" b="1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pPr>
            <a:r>
              <a:rPr sz="1725" b="1" i="0">
                <a:solidFill>
                  <a:srgbClr val="10254A"/>
                </a:solidFill>
                <a:latin typeface="Segoe UI"/>
                <a:ea typeface="Segoe UI"/>
                <a:cs typeface="Segoe UI"/>
              </a:rPr>
              <a:t>Complete and verify</a:t>
            </a:r>
            <a:endParaRPr sz="1450"/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25AF2C36-6957-4079-8147-9DFEBB0F7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5248275"/>
            <a:ext cx="6210300" cy="4476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marL="0" indent="0" algn="l">
              <a:lnSpc>
                <a:spcPct val="107000"/>
              </a:lnSpc>
              <a:buNone/>
              <a:defRPr sz="1500" b="0" i="0">
                <a:solidFill>
                  <a:srgbClr val="10254A"/>
                </a:solidFill>
                <a:latin typeface="Segoe UI"/>
                <a:ea typeface="Segoe UI"/>
                <a:cs typeface="Segoe UI"/>
              </a:defRPr>
            </a:pPr>
            <a:r>
              <a:rPr sz="1500" b="0" i="0">
                <a:solidFill>
                  <a:srgbClr val="10254A"/>
                </a:solidFill>
                <a:latin typeface="Segoe UI"/>
                <a:ea typeface="Segoe UI"/>
                <a:cs typeface="Segoe UI"/>
              </a:rPr>
              <a:t>Required features completed; final suite: 304 checks.</a:t>
            </a:r>
            <a:endParaRPr sz="1300"/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683E21D-FA6C-4BA7-858D-25F1B1129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572250"/>
            <a:ext cx="9906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75" b="0">
                <a:solidFill>
                  <a:srgbClr val="6B7280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r">
              <a:lnSpc>
                <a:spcPct val="107000"/>
              </a:lnSpc>
              <a:buNone/>
              <a:defRPr sz="975" b="0">
                <a:solidFill>
                  <a:srgbClr val="6B7280"/>
                </a:solidFill>
                <a:latin typeface="Segoe UI"/>
                <a:ea typeface="Segoe UI"/>
                <a:cs typeface="Segoe UI"/>
              </a:defRPr>
            </a:pPr>
            <a:r>
              <a:rPr sz="975" b="0">
                <a:solidFill>
                  <a:srgbClr val="6B7280"/>
                </a:solidFill>
                <a:latin typeface="Segoe UI"/>
                <a:ea typeface="Segoe UI"/>
                <a:cs typeface="Segoe UI"/>
              </a:rPr>
              <a:t>08 / 08</a:t>
            </a:r>
          </a:p>
        </p:txBody>
      </p:sp>
    </p:spTree>
    <p:extLst>
      <p:ext uri="{BB962C8B-B14F-4D97-AF65-F5344CB8AC3E}">
        <p14:creationId xmlns:p14="http://schemas.microsoft.com/office/powerpoint/2010/main" val="232336497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egoe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2026-10-10T01:23:04.6410000Z</dcterms:created>
  <dcterms:modified xsi:type="dcterms:W3CDTF">2026-10-10T01:23:04.6410000Z</dcterms:modified>
</coreProperties>
</file>